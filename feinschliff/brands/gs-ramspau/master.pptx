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EINSCHULUNG ·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1079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Checkliste für den Schulstart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032000"/>
            <a:ext cx="3429000" cy="2540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0701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Open Sans"/>
              </a:rPr>
              <a:t>Bitte beschriften und am ersten Schultag dabei haben.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667000"/>
            <a:ext cx="5207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IM TORNISTER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895600"/>
            <a:ext cx="5080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30734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30480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Federmäppchen mit Stiften, Radiergummi, Spitzer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5306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35052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Sportbeutel mit Hallenturnschuhen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39878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39624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Pausenbrot in beschrifteter Brotdose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4450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" y="44196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Trinkflasche (auslaufsicher, max. 0,5 Liter)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49022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" y="48768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Hausaufgabenheft und Mitteilungsheft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2667000"/>
            <a:ext cx="508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IM KLASSENZIMMER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2895600"/>
            <a:ext cx="5080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0" y="30734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8600" y="30480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Hausschuhe mit heller Sohle (kein Streifenabrieb)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5306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8600" y="35052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Sammelmappe DIN A4 für Elternpost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9878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8600" y="39624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Schere mit abgerundeter Spitze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44450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8600" y="44196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Klebestift (lösungsmittelfrei)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4902200"/>
            <a:ext cx="127000" cy="127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8600" y="4876800"/>
            <a:ext cx="4089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Wasserfarbkasten mit Pinseln und Becher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LEITBILD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1079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Was uns trägt.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413000"/>
            <a:ext cx="52197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413000"/>
            <a:ext cx="5219700" cy="381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590800"/>
            <a:ext cx="47117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94000"/>
            <a:ext cx="47117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3F4B2E"/>
                </a:solidFill>
                <a:latin typeface="Open Sans Medium"/>
              </a:rPr>
              <a:t>Respekt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200400"/>
            <a:ext cx="47117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Wir gehen freundlich und aufmerksam miteinander um — Kinder, Eltern und Kolleginnen.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300" y="2413000"/>
            <a:ext cx="52197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413000"/>
            <a:ext cx="5219700" cy="381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300" y="2590800"/>
            <a:ext cx="47117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300" y="2794000"/>
            <a:ext cx="47117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3F4B2E"/>
                </a:solidFill>
                <a:latin typeface="Open Sans Medium"/>
              </a:rPr>
              <a:t>Verantwortung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300" y="3200400"/>
            <a:ext cx="47117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Jedes Kind übernimmt Schritt für Schritt mehr Verantwortung für sein Lernen und sein Tun.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165600"/>
            <a:ext cx="52197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4165600"/>
            <a:ext cx="5219700" cy="381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4343400"/>
            <a:ext cx="47117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546600"/>
            <a:ext cx="47117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3F4B2E"/>
                </a:solidFill>
                <a:latin typeface="Open Sans Medium"/>
              </a:rPr>
              <a:t>Gemeinschaft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4953000"/>
            <a:ext cx="47117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Wir lernen, feiern und arbeiten zusammen. Unterschiede machen uns reicher.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0300" y="4165600"/>
            <a:ext cx="52197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300" y="4165600"/>
            <a:ext cx="5219700" cy="381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300" y="4343400"/>
            <a:ext cx="47117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300" y="4546600"/>
            <a:ext cx="47117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3F4B2E"/>
                </a:solidFill>
                <a:latin typeface="Open Sans Medium"/>
              </a:rPr>
              <a:t>Freude am Lernen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300" y="4953000"/>
            <a:ext cx="47117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Neugier ist unser Motor. Wir feiern den Moment, in dem ein Kind etwas Neues kann.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SCHULJAHR 2025/26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711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Woher unsere Kinder kommen.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4000" y="1651000"/>
            <a:ext cx="355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Kinder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768600"/>
            <a:ext cx="20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7000" y="2806700"/>
            <a:ext cx="7620000" cy="17780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0" y="2806700"/>
            <a:ext cx="7620000" cy="1778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0" y="2768600"/>
            <a:ext cx="101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225800"/>
            <a:ext cx="20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Pielenhofen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3263900"/>
            <a:ext cx="7620000" cy="17780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7000" y="3263900"/>
            <a:ext cx="4038600" cy="1778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0" y="3225800"/>
            <a:ext cx="101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683000"/>
            <a:ext cx="20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Etterzhausen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0" y="3721100"/>
            <a:ext cx="7620000" cy="17780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7000" y="3721100"/>
            <a:ext cx="2514600" cy="1778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0" y="3683000"/>
            <a:ext cx="101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140200"/>
            <a:ext cx="20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Pettendorf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4178300"/>
            <a:ext cx="7620000" cy="17780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4178300"/>
            <a:ext cx="1143000" cy="177800"/>
          </a:xfrm>
          <a:prstGeom prst="rect">
            <a:avLst/>
          </a:prstGeom>
          <a:solidFill>
            <a:srgbClr val="9A8F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14000" y="4140200"/>
            <a:ext cx="101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4597400"/>
            <a:ext cx="20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Sonstige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7000" y="4635500"/>
            <a:ext cx="7620000" cy="17780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7000" y="4635500"/>
            <a:ext cx="533400" cy="177800"/>
          </a:xfrm>
          <a:prstGeom prst="rect">
            <a:avLst/>
          </a:prstGeom>
          <a:solidFill>
            <a:srgbClr val="9A8F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0" y="4597400"/>
            <a:ext cx="101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5143500"/>
            <a:ext cx="1079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8F86"/>
                </a:solidFill>
                <a:latin typeface="Open Sans"/>
              </a:rPr>
              <a:t>Stichtag 01.10.2025. Ausweispflicht der Eltern, gerundet.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KLASSE 3A · 2025/26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1079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Unsere Woche.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2860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9600" y="2400300"/>
            <a:ext cx="1828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MONTAG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2400300"/>
            <a:ext cx="1828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DIENSTAG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0400" y="2400300"/>
            <a:ext cx="1828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MITTWOCH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0" y="2400300"/>
            <a:ext cx="1828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DONNERSTAG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400300"/>
            <a:ext cx="1828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FREITAG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6670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781300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1. STD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2946400"/>
            <a:ext cx="9144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9600" y="27940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Deutsch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27940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Mathe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0400" y="27940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Deutsch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0800" y="27940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Religion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9600" y="2667000"/>
            <a:ext cx="1930400" cy="4826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7940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Open Sans"/>
              </a:rPr>
              <a:t>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31496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3263900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2. STD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00" y="3429000"/>
            <a:ext cx="9144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08:50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9600" y="32766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Mathe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0" y="32766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Deutsch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0400" y="32766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Mathe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0800" y="32766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Deutsch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9600" y="3149600"/>
            <a:ext cx="1930400" cy="4826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2766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Open Sans"/>
              </a:rPr>
              <a:t>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36322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600" y="3746500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PAUSE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00" y="3911600"/>
            <a:ext cx="9144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09:35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78000" y="3632200"/>
            <a:ext cx="1930400" cy="4826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9600" y="37592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1B8"/>
                </a:solidFill>
                <a:latin typeface="Open Sans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708400" y="3632200"/>
            <a:ext cx="1930400" cy="4826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7592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1B8"/>
                </a:solidFill>
                <a:latin typeface="Open Sans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638800" y="3632200"/>
            <a:ext cx="1930400" cy="4826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0400" y="37592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1B8"/>
                </a:solidFill>
                <a:latin typeface="Open Sans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7569200" y="3632200"/>
            <a:ext cx="1930400" cy="4826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70800" y="37592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1B8"/>
                </a:solidFill>
                <a:latin typeface="Open Sans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9499600" y="3632200"/>
            <a:ext cx="1930400" cy="482600"/>
          </a:xfrm>
          <a:prstGeom prst="rect">
            <a:avLst/>
          </a:prstGeom>
          <a:solidFill>
            <a:srgbClr val="3F4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37592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1B8"/>
                </a:solidFill>
                <a:latin typeface="Open Sans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41148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600" y="4229100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3. STD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600" y="4394200"/>
            <a:ext cx="9144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10:00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9600" y="42418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HSU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0000" y="42418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Kunst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40400" y="42418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Musik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70800" y="42418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HSU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2418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Deutsch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000" y="45974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3600" y="4711700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4. STD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3600" y="4876800"/>
            <a:ext cx="9144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10:50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9600" y="47244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Englisch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10000" y="47244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Kunst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40400" y="47244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Englisch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70800" y="47244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WG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4724400"/>
            <a:ext cx="1727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1F1C"/>
                </a:solidFill>
                <a:latin typeface="Open Sans"/>
              </a:rPr>
              <a:t>Mathe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000" y="5270500"/>
            <a:ext cx="1079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HSU = Heimat- und Sachunterricht · WG = Werken/Gestalten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KOLLEGIUM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1079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Wer Ihre Kinder begleitet.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286000"/>
            <a:ext cx="2438400" cy="2032000"/>
          </a:xfrm>
          <a:prstGeom prst="rect">
            <a:avLst/>
          </a:prstGeom>
          <a:solidFill>
            <a:srgbClr val="ECE7DC"/>
          </a:solidFill>
          <a:ln w="9525">
            <a:solidFill>
              <a:srgbClr val="DDDC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3225800"/>
            <a:ext cx="256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1F1F1C"/>
                </a:solidFill>
                <a:latin typeface="Consolas"/>
              </a:rPr>
              <a:t>PORTRÄT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0"/>
            <a:ext cx="2438400" cy="20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4470400"/>
            <a:ext cx="2565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Anna Bauer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851400"/>
            <a:ext cx="256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REKTORIN · KLASSE 4A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054600"/>
            <a:ext cx="2565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8F86"/>
                </a:solidFill>
                <a:latin typeface="Open Sans"/>
              </a:rPr>
              <a:t>rektorin@gs-ramspau.de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9A8F86"/>
                </a:solidFill>
                <a:latin typeface="Open Sans"/>
              </a:rPr>
              <a:t>+49 9409 1234-10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2286000"/>
            <a:ext cx="2438400" cy="2032000"/>
          </a:xfrm>
          <a:prstGeom prst="rect">
            <a:avLst/>
          </a:prstGeom>
          <a:solidFill>
            <a:srgbClr val="ECE7DC"/>
          </a:solidFill>
          <a:ln w="9525">
            <a:solidFill>
              <a:srgbClr val="DDDC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32258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1F1F1C"/>
                </a:solidFill>
                <a:latin typeface="Consolas"/>
              </a:rPr>
              <a:t>PORTRÄT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286000"/>
            <a:ext cx="2438400" cy="203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52800" y="4470400"/>
            <a:ext cx="243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Markus Hofer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48514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STELLV. · KLASSE 3A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5054600"/>
            <a:ext cx="2438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8F86"/>
                </a:solidFill>
                <a:latin typeface="Open Sans"/>
              </a:rPr>
              <a:t>m.hofer@gs-ramspau.de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9A8F86"/>
                </a:solidFill>
                <a:latin typeface="Open Sans"/>
              </a:rPr>
              <a:t>+49 9409 1234-11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286000"/>
            <a:ext cx="2438400" cy="2032000"/>
          </a:xfrm>
          <a:prstGeom prst="rect">
            <a:avLst/>
          </a:prstGeom>
          <a:solidFill>
            <a:srgbClr val="ECE7DC"/>
          </a:solidFill>
          <a:ln w="9525">
            <a:solidFill>
              <a:srgbClr val="DDDC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2258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1F1F1C"/>
                </a:solidFill>
                <a:latin typeface="Consolas"/>
              </a:rPr>
              <a:t>PORTRÄT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2438400" cy="203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0" y="4470400"/>
            <a:ext cx="243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Julia Lenz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514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KLASSE 2A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54600"/>
            <a:ext cx="2438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8F86"/>
                </a:solidFill>
                <a:latin typeface="Open Sans"/>
              </a:rPr>
              <a:t>j.lenz@gs-ramspau.de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9A8F86"/>
                </a:solidFill>
                <a:latin typeface="Open Sans"/>
              </a:rPr>
              <a:t>+49 9409 1234-12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400" y="2286000"/>
            <a:ext cx="2438400" cy="2032000"/>
          </a:xfrm>
          <a:prstGeom prst="rect">
            <a:avLst/>
          </a:prstGeom>
          <a:solidFill>
            <a:srgbClr val="ECE7DC"/>
          </a:solidFill>
          <a:ln w="9525">
            <a:solidFill>
              <a:srgbClr val="DDDC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400" y="32258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1F1F1C"/>
                </a:solidFill>
                <a:latin typeface="Consolas"/>
              </a:rPr>
              <a:t>PORTRÄT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2286000"/>
            <a:ext cx="2438400" cy="203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34400" y="4470400"/>
            <a:ext cx="243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Sarah Mayer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0" y="4851400"/>
            <a:ext cx="2438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9EB05C"/>
                </a:solidFill>
                <a:latin typeface="Consolas"/>
              </a:rPr>
              <a:t>KLASSE 1A · KOOP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400" y="5054600"/>
            <a:ext cx="2438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8F86"/>
                </a:solidFill>
                <a:latin typeface="Open Sans"/>
              </a:rPr>
              <a:t>s.mayer@gs-ramspau.de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9A8F86"/>
                </a:solidFill>
                <a:latin typeface="Open Sans"/>
              </a:rPr>
              <a:t>+49 9409 1234-13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2667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GRUNDSCHULE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spc="90">
                <a:solidFill>
                  <a:srgbClr val="3F4B2E"/>
                </a:solidFill>
                <a:latin typeface="Open Sans Medium"/>
              </a:rPr>
              <a:t>RAMSPAU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0" y="571500"/>
            <a:ext cx="457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05F5A"/>
                </a:solidFill>
                <a:latin typeface="Consolas"/>
              </a:rPr>
              <a:t>SCHULJAHR 2025/26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460500"/>
            <a:ext cx="1079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Was kommt.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413000"/>
            <a:ext cx="10668000" cy="685800"/>
          </a:xfrm>
          <a:prstGeom prst="rect">
            <a:avLst/>
          </a:prstGeom>
          <a:solidFill>
            <a:srgbClr val="ECE7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4130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2501900"/>
            <a:ext cx="88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9EB05C"/>
                </a:solidFill>
                <a:latin typeface="Open Sa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933700"/>
            <a:ext cx="88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SEP · SA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000" y="2654300"/>
            <a:ext cx="762000" cy="2032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4200" y="2692400"/>
            <a:ext cx="6858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FFFFF"/>
                </a:solidFill>
                <a:latin typeface="Consolas"/>
              </a:rPr>
              <a:t>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26543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Schulfest und Tag der offenen Tür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797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TURNHALLE · 10–16 UHR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30988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3187700"/>
            <a:ext cx="88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619500"/>
            <a:ext cx="88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OKT · 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3401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Klassenelternabend Jahrgangsstufen 1–4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655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KLASSENZIMMER · 19 UHR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37846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873500"/>
            <a:ext cx="88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305300"/>
            <a:ext cx="88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DEZ · 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7000" y="40259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Adventsbasar des Elternbeirats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0513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PAUSENHOF · AB 14 UHR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4704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4559300"/>
            <a:ext cx="88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3F4B2E"/>
                </a:solidFill>
                <a:latin typeface="Open Sans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4991100"/>
            <a:ext cx="88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FEB ·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7000" y="47117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Zwischenzeugnisse 4. Klasse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371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ELTERNGESPRÄCHE NACH TERMIN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5156200"/>
            <a:ext cx="10668000" cy="685800"/>
          </a:xfrm>
          <a:prstGeom prst="rect">
            <a:avLst/>
          </a:prstGeom>
          <a:solidFill>
            <a:srgbClr val="ECE7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2000" y="51562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245100"/>
            <a:ext cx="88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80">
                <a:solidFill>
                  <a:srgbClr val="9EB05C"/>
                </a:solidFill>
                <a:latin typeface="Open Sans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5676900"/>
            <a:ext cx="88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JUL · 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78000" y="5397500"/>
            <a:ext cx="762000" cy="203200"/>
          </a:xfrm>
          <a:prstGeom prst="rect">
            <a:avLst/>
          </a:prstGeom>
          <a:solidFill>
            <a:srgbClr val="9EB0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4200" y="5435600"/>
            <a:ext cx="6858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FFFFF"/>
                </a:solidFill>
                <a:latin typeface="Consolas"/>
              </a:rPr>
              <a:t>HIGHLIGHT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000" y="53975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3F4B2E"/>
                </a:solidFill>
                <a:latin typeface="Open Sans Medium"/>
              </a:rPr>
              <a:t>Abschlussfeier und Sommerfest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4229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>TURNHALLE · 17 UHR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0" y="58420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000" y="6286500"/>
            <a:ext cx="10668000" cy="6350"/>
          </a:xfrm>
          <a:prstGeom prst="rect">
            <a:avLst/>
          </a:prstGeom>
          <a:solidFill>
            <a:srgbClr val="DD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8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4000" y="6413500"/>
            <a:ext cx="3556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A8F8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