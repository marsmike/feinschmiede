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LAYOUT · 2×2 MATRIX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1143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1397000"/>
            <a:ext cx="1092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B1A33"/>
                </a:solidFill>
                <a:latin typeface="Noto Sans Mono"/>
              </a:rPr>
              <a:t>LAYOUT · 2×2 MATRIX</a:t>
            </a:r>
          </a:p>
        </p:txBody>
      </p:sp>
      <p:sp>
        <p:nvSpPr>
          <p:cNvPr id="6" name="feinschliff-title-title"/>
          <p:cNvSpPr txBox="1"/>
          <p:nvPr/>
        </p:nvSpPr>
        <p:spPr>
          <a:xfrm>
            <a:off x="635000" y="1651000"/>
            <a:ext cx="109220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spc="-27">
                <a:solidFill>
                  <a:srgbClr val="0B1A33"/>
                </a:solidFill>
                <a:latin typeface="Noto Sans"/>
              </a:rPr>
              <a:t>Headline takeaway about prioritisation.</a:t>
            </a:r>
          </a:p>
        </p:txBody>
      </p:sp>
      <p:sp>
        <p:nvSpPr>
          <p:cNvPr id="7" name="TextBox 6"/>
          <p:cNvSpPr txBox="1"/>
          <p:nvPr/>
        </p:nvSpPr>
        <p:spPr>
          <a:xfrm rot="16200000">
            <a:off x="635000" y="43688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spc="96">
                <a:solidFill>
                  <a:srgbClr val="2D3A52"/>
                </a:solidFill>
                <a:latin typeface="Noto Sans Mono"/>
              </a:rPr>
              <a:t>IMPACT</a:t>
            </a:r>
          </a:p>
        </p:txBody>
      </p:sp>
      <p:sp>
        <p:nvSpPr>
          <p:cNvPr id="8" name="Rectangle 7"/>
          <p:cNvSpPr/>
          <p:nvPr/>
        </p:nvSpPr>
        <p:spPr>
          <a:xfrm>
            <a:off x="1270000" y="2921000"/>
            <a:ext cx="3048000" cy="15240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97000" y="3111500"/>
            <a:ext cx="2794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0B1A33"/>
                </a:solidFill>
                <a:latin typeface="Noto Sans Mono"/>
              </a:rPr>
              <a:t>Q1 · HIGH IMPACT · LOW LIFT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7000" y="3365500"/>
            <a:ext cx="2794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Top-right item.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7000" y="3937000"/>
            <a:ext cx="2794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0B1A33"/>
                </a:solidFill>
                <a:latin typeface="Noto Sans"/>
              </a:rPr>
              <a:t>High-impact, low-effort initiative.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8000" y="2921000"/>
            <a:ext cx="3048000" cy="1524000"/>
          </a:xfrm>
          <a:prstGeom prst="rect">
            <a:avLst/>
          </a:prstGeom>
          <a:solidFill>
            <a:srgbClr val="FAF8F3"/>
          </a:solidFill>
          <a:ln w="9525">
            <a:solidFill>
              <a:srgbClr val="D6D1C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45000" y="3111500"/>
            <a:ext cx="2794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Q2 · HIGH IMPACT · HIGH LIFT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5000" y="3365500"/>
            <a:ext cx="2794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Top-left item.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5000" y="3937000"/>
            <a:ext cx="2794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High-impact, high-effort initiative.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70000" y="4445000"/>
            <a:ext cx="3048000" cy="1524000"/>
          </a:xfrm>
          <a:prstGeom prst="rect">
            <a:avLst/>
          </a:prstGeom>
          <a:solidFill>
            <a:srgbClr val="FAF8F3"/>
          </a:solidFill>
          <a:ln w="9525">
            <a:solidFill>
              <a:srgbClr val="D6D1C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7000" y="4635500"/>
            <a:ext cx="2794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Q3 · LOW IMPACT · LOW LIFT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7000" y="4889500"/>
            <a:ext cx="2794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Bottom-right item.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7000" y="5461000"/>
            <a:ext cx="2794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Low-impact, low-effort initiative.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18000" y="4445000"/>
            <a:ext cx="3048000" cy="1524000"/>
          </a:xfrm>
          <a:prstGeom prst="rect">
            <a:avLst/>
          </a:prstGeom>
          <a:solidFill>
            <a:srgbClr val="FAF8F3"/>
          </a:solidFill>
          <a:ln w="9525">
            <a:solidFill>
              <a:srgbClr val="D6D1C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45000" y="4635500"/>
            <a:ext cx="2794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Q4 · LOW IMPACT · HIGH LIFT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45000" y="4889500"/>
            <a:ext cx="2794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Bottom-left item.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5000" y="5461000"/>
            <a:ext cx="2794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Low-impact, high-effort initiative.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70000" y="6096000"/>
            <a:ext cx="6096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spc="96">
                <a:solidFill>
                  <a:srgbClr val="2D3A52"/>
                </a:solidFill>
                <a:latin typeface="Noto Sans Mono"/>
              </a:rPr>
              <a:t>EFFORT TO SHIP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74000" y="2984500"/>
            <a:ext cx="3683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Reading the grid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74000" y="3429000"/>
            <a:ext cx="508000" cy="127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74000" y="3556000"/>
            <a:ext cx="36830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Each quadrant holds one representative initiative. The accent cell marks the highest-priority quadrant.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SLIDE 19 / 32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LAYOUT · ACTION TITLE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spc="96">
                <a:solidFill>
                  <a:srgbClr val="2D3A52"/>
                </a:solidFill>
                <a:latin typeface="Noto Sans Mono"/>
              </a:rPr>
              <a:t>SO WHAT?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1397000"/>
            <a:ext cx="1092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spc="108">
                <a:solidFill>
                  <a:srgbClr val="0B1A33"/>
                </a:solidFill>
                <a:latin typeface="Noto Sans Mono"/>
              </a:rPr>
              <a:t>ACTION-TITLE LAYOUT</a:t>
            </a:r>
          </a:p>
        </p:txBody>
      </p:sp>
      <p:sp>
        <p:nvSpPr>
          <p:cNvPr id="6" name="feinschliff-title-act-title"/>
          <p:cNvSpPr txBox="1"/>
          <p:nvPr/>
        </p:nvSpPr>
        <p:spPr>
          <a:xfrm>
            <a:off x="635000" y="1651000"/>
            <a:ext cx="10287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0" spc="-56">
                <a:solidFill>
                  <a:srgbClr val="0B1A33"/>
                </a:solidFill>
                <a:latin typeface="Noto Sans"/>
              </a:rPr>
              <a:t>Full-sentence takeaway that states the recommendation directly.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3302000"/>
            <a:ext cx="355600" cy="127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000" y="3454400"/>
            <a:ext cx="4826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B1A33"/>
                </a:solidFill>
                <a:latin typeface="Noto Sans Mono"/>
              </a:rPr>
              <a:t>SUPPORTING NARRATIVE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3708400"/>
            <a:ext cx="4953000" cy="215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Supporting paragraph that explains the evidence behind the recommendation.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0" y="3429000"/>
            <a:ext cx="241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0" spc="-179">
                <a:solidFill>
                  <a:srgbClr val="0B1A33"/>
                </a:solidFill>
                <a:latin typeface="Noto Sans Light"/>
              </a:rPr>
              <a:t>+18%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0" y="4191000"/>
            <a:ext cx="2413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80">
                <a:solidFill>
                  <a:srgbClr val="2D3A52"/>
                </a:solidFill>
                <a:latin typeface="Noto Sans Mono"/>
              </a:rPr>
              <a:t>KPI LABEL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0" y="4394200"/>
            <a:ext cx="2413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A6F2E"/>
                </a:solidFill>
                <a:latin typeface="Noto Sans Mono"/>
              </a:rPr>
              <a:t>Caption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3429000"/>
            <a:ext cx="241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0" spc="-179">
                <a:solidFill>
                  <a:srgbClr val="0B1A33"/>
                </a:solidFill>
                <a:latin typeface="Noto Sans Light"/>
              </a:rPr>
              <a:t>2.3×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4191000"/>
            <a:ext cx="2413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80">
                <a:solidFill>
                  <a:srgbClr val="2D3A52"/>
                </a:solidFill>
                <a:latin typeface="Noto Sans Mono"/>
              </a:rPr>
              <a:t>KPI LABEL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4394200"/>
            <a:ext cx="2413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A6F2E"/>
                </a:solidFill>
                <a:latin typeface="Noto Sans Mono"/>
              </a:rPr>
              <a:t>Caption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5969000"/>
            <a:ext cx="10922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Source · placeholder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SLIDE 16 / 32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1143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1397000"/>
            <a:ext cx="1079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B1A33"/>
                </a:solidFill>
                <a:latin typeface="Noto Sans Mono"/>
              </a:rPr>
              <a:t>LAYOUT · AGENDA</a:t>
            </a:r>
          </a:p>
        </p:txBody>
      </p:sp>
      <p:sp>
        <p:nvSpPr>
          <p:cNvPr id="6" name="feinschliff-title-sub"/>
          <p:cNvSpPr txBox="1"/>
          <p:nvPr/>
        </p:nvSpPr>
        <p:spPr>
          <a:xfrm>
            <a:off x="635000" y="1651000"/>
            <a:ext cx="10795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>
                <a:solidFill>
                  <a:srgbClr val="2D3A52"/>
                </a:solidFill>
                <a:latin typeface="Noto Sans"/>
              </a:rPr>
              <a:t>Eight chapters across the 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540000"/>
            <a:ext cx="5080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000" y="2654300"/>
            <a:ext cx="635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C9A24A"/>
                </a:solidFill>
                <a:latin typeface="Noto Sans Mono Medium"/>
              </a:rPr>
              <a:t>01 / 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33500" y="2590800"/>
            <a:ext cx="4381500" cy="241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0B1A33"/>
                </a:solidFill>
                <a:latin typeface="Noto Sans SemiBold"/>
              </a:rPr>
              <a:t>Welcome &amp; frame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3500" y="2870200"/>
            <a:ext cx="4381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D3A52"/>
                </a:solidFill>
                <a:latin typeface="Noto Sans"/>
              </a:rPr>
              <a:t>Why we're here, what we'll decide.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77000" y="2540000"/>
            <a:ext cx="5080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7000" y="2654300"/>
            <a:ext cx="635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C9A24A"/>
                </a:solidFill>
                <a:latin typeface="Noto Sans Mono Medium"/>
              </a:rPr>
              <a:t>02 / 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75500" y="2590800"/>
            <a:ext cx="4381500" cy="241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0B1A33"/>
                </a:solidFill>
                <a:latin typeface="Noto Sans SemiBold"/>
              </a:rPr>
              <a:t>Quarter in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5500" y="2870200"/>
            <a:ext cx="4381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D3A52"/>
                </a:solidFill>
                <a:latin typeface="Noto Sans"/>
              </a:rPr>
              <a:t>Where the plan landed vs the bar.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000" y="3149600"/>
            <a:ext cx="5080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000" y="3263900"/>
            <a:ext cx="635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C9A24A"/>
                </a:solidFill>
                <a:latin typeface="Noto Sans Mono Medium"/>
              </a:rPr>
              <a:t>03 / 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33500" y="3200400"/>
            <a:ext cx="4381500" cy="241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0B1A33"/>
                </a:solidFill>
                <a:latin typeface="Noto Sans SemiBold"/>
              </a:rPr>
              <a:t>Customer voice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3500" y="3479800"/>
            <a:ext cx="4381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D3A52"/>
                </a:solidFill>
                <a:latin typeface="Noto Sans"/>
              </a:rPr>
              <a:t>Three accounts, three lessons.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77000" y="3149600"/>
            <a:ext cx="5080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7000" y="3263900"/>
            <a:ext cx="635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C9A24A"/>
                </a:solidFill>
                <a:latin typeface="Noto Sans Mono Medium"/>
              </a:rPr>
              <a:t>04 / 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5500" y="3200400"/>
            <a:ext cx="4381500" cy="241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0B1A33"/>
                </a:solidFill>
                <a:latin typeface="Noto Sans SemiBold"/>
              </a:rPr>
              <a:t>Product roadmap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5500" y="3479800"/>
            <a:ext cx="4381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D3A52"/>
                </a:solidFill>
                <a:latin typeface="Noto Sans"/>
              </a:rPr>
              <a:t>Eighteen months, three workstreams.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000" y="3759200"/>
            <a:ext cx="5080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000" y="3873500"/>
            <a:ext cx="635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C9A24A"/>
                </a:solidFill>
                <a:latin typeface="Noto Sans Mono Medium"/>
              </a:rPr>
              <a:t>05 / 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33500" y="3810000"/>
            <a:ext cx="4381500" cy="241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0B1A33"/>
                </a:solidFill>
                <a:latin typeface="Noto Sans SemiBold"/>
              </a:rPr>
              <a:t>Go-to-market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33500" y="4089400"/>
            <a:ext cx="4381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D3A52"/>
                </a:solidFill>
                <a:latin typeface="Noto Sans"/>
              </a:rPr>
              <a:t>Pricing, packaging, motion.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77000" y="3759200"/>
            <a:ext cx="5080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77000" y="3873500"/>
            <a:ext cx="635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C9A24A"/>
                </a:solidFill>
                <a:latin typeface="Noto Sans Mono Medium"/>
              </a:rPr>
              <a:t>06 / 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75500" y="3810000"/>
            <a:ext cx="4381500" cy="241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0B1A33"/>
                </a:solidFill>
                <a:latin typeface="Noto Sans SemiBold"/>
              </a:rPr>
              <a:t>People &amp; culture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75500" y="4089400"/>
            <a:ext cx="4381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D3A52"/>
                </a:solidFill>
                <a:latin typeface="Noto Sans"/>
              </a:rPr>
              <a:t>Hiring plan, retention signals.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5000" y="4368800"/>
            <a:ext cx="5080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000" y="4483100"/>
            <a:ext cx="635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C9A24A"/>
                </a:solidFill>
                <a:latin typeface="Noto Sans Mono Medium"/>
              </a:rPr>
              <a:t>07 / 08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33500" y="4419600"/>
            <a:ext cx="4381500" cy="241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0B1A33"/>
                </a:solidFill>
                <a:latin typeface="Noto Sans SemiBold"/>
              </a:rPr>
              <a:t>Risk register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33500" y="4699000"/>
            <a:ext cx="4381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D3A52"/>
                </a:solidFill>
                <a:latin typeface="Noto Sans"/>
              </a:rPr>
              <a:t>What could derail the plan.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77000" y="4368800"/>
            <a:ext cx="5080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77000" y="4483100"/>
            <a:ext cx="635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C9A24A"/>
                </a:solidFill>
                <a:latin typeface="Noto Sans Mono Medium"/>
              </a:rPr>
              <a:t>08 / 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75500" y="4419600"/>
            <a:ext cx="4381500" cy="241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0B1A33"/>
                </a:solidFill>
                <a:latin typeface="Noto Sans SemiBold"/>
              </a:rPr>
              <a:t>Decisions &amp; next steps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75500" y="4699000"/>
            <a:ext cx="4381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D3A52"/>
                </a:solidFill>
                <a:latin typeface="Noto Sans"/>
              </a:rPr>
              <a:t>What we commit to before EOM.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SLIDE 4 / 32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TODAY · 4 ACTS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0" y="635000"/>
            <a:ext cx="5207000" cy="558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35000" y="1270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1524000"/>
            <a:ext cx="5461000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B1A33"/>
                </a:solidFill>
                <a:latin typeface="Noto Sans Mono"/>
              </a:rPr>
              <a:t>AGENDA</a:t>
            </a:r>
          </a:p>
        </p:txBody>
      </p:sp>
      <p:sp>
        <p:nvSpPr>
          <p:cNvPr id="7" name="feinschliff-title-title"/>
          <p:cNvSpPr txBox="1"/>
          <p:nvPr/>
        </p:nvSpPr>
        <p:spPr>
          <a:xfrm>
            <a:off x="635000" y="1778000"/>
            <a:ext cx="5461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spc="-27">
                <a:solidFill>
                  <a:srgbClr val="0B1A33"/>
                </a:solidFill>
                <a:latin typeface="Noto Sans"/>
              </a:rPr>
              <a:t>Today.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" y="2921000"/>
            <a:ext cx="5461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" y="3035300"/>
            <a:ext cx="635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C9A24A"/>
                </a:solidFill>
                <a:latin typeface="Noto Sans Mono Medium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3500" y="2971800"/>
            <a:ext cx="4762500" cy="241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0B1A33"/>
                </a:solidFill>
                <a:latin typeface="Noto Sans SemiBold"/>
              </a:rPr>
              <a:t>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33500" y="3251200"/>
            <a:ext cx="4762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D3A52"/>
                </a:solidFill>
                <a:latin typeface="Noto Sans"/>
              </a:rPr>
              <a:t>Reservoirs, drawn to scale, the cycle as a system.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000" y="3556000"/>
            <a:ext cx="5461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000" y="3670300"/>
            <a:ext cx="635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C9A24A"/>
                </a:solidFill>
                <a:latin typeface="Noto Sans Mono Medium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33500" y="3606800"/>
            <a:ext cx="4762500" cy="241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0B1A33"/>
                </a:solidFill>
                <a:latin typeface="Noto Sans SemiBold"/>
              </a:rPr>
              <a:t>Stress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3500" y="3886200"/>
            <a:ext cx="4762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D3A52"/>
                </a:solidFill>
                <a:latin typeface="Noto Sans"/>
              </a:rPr>
              <a:t>It's accelerating faster than we measured for.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000" y="4191000"/>
            <a:ext cx="5461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000" y="4305300"/>
            <a:ext cx="635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C9A24A"/>
                </a:solidFill>
                <a:latin typeface="Noto Sans Mono Medium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3500" y="4241800"/>
            <a:ext cx="4762500" cy="241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0B1A33"/>
                </a:solidFill>
                <a:latin typeface="Noto Sans SemiBold"/>
              </a:rPr>
              <a:t>Pathways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3500" y="4521200"/>
            <a:ext cx="4762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D3A52"/>
                </a:solidFill>
                <a:latin typeface="Noto Sans"/>
              </a:rPr>
              <a:t>Where each drop goes.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000" y="4826000"/>
            <a:ext cx="5461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000" y="4940300"/>
            <a:ext cx="635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C9A24A"/>
                </a:solidFill>
                <a:latin typeface="Noto Sans Mono Medium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3500" y="4876800"/>
            <a:ext cx="4762500" cy="241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0B1A33"/>
                </a:solidFill>
                <a:latin typeface="Noto Sans SemiBold"/>
              </a:rPr>
              <a:t>Response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33500" y="5156200"/>
            <a:ext cx="4762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D3A52"/>
                </a:solidFill>
                <a:latin typeface="Noto Sans"/>
              </a:rPr>
              <a:t>Three levers that work.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MAY 2026 · SHOWCASE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SLIDE 2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LAYOUT · BAR CHART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1143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1397000"/>
            <a:ext cx="1092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B1A33"/>
                </a:solidFill>
                <a:latin typeface="Noto Sans Mono"/>
              </a:rPr>
              <a:t>LAYOUT · BAR CHART</a:t>
            </a:r>
          </a:p>
        </p:txBody>
      </p:sp>
      <p:sp>
        <p:nvSpPr>
          <p:cNvPr id="6" name="feinschliff-title-title"/>
          <p:cNvSpPr txBox="1"/>
          <p:nvPr/>
        </p:nvSpPr>
        <p:spPr>
          <a:xfrm>
            <a:off x="635000" y="1651000"/>
            <a:ext cx="109220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spc="-27">
                <a:solidFill>
                  <a:srgbClr val="0B1A33"/>
                </a:solidFill>
                <a:latin typeface="Noto Sans"/>
              </a:rPr>
              <a:t>Headline takeaway from the chart.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92100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Bar A</a:t>
            </a:r>
          </a:p>
        </p:txBody>
      </p:sp>
      <p:sp>
        <p:nvSpPr>
          <p:cNvPr id="8" name="Rectangle 7"/>
          <p:cNvSpPr/>
          <p:nvPr/>
        </p:nvSpPr>
        <p:spPr>
          <a:xfrm>
            <a:off x="2667000" y="2984500"/>
            <a:ext cx="7620000" cy="2540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67000" y="2984500"/>
            <a:ext cx="4724400" cy="2540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14000" y="2921000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62%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358140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Bar 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67000" y="3644900"/>
            <a:ext cx="7620000" cy="2540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67000" y="3644900"/>
            <a:ext cx="1828800" cy="2540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14000" y="3581400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24%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000" y="424180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Bar 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67000" y="4305300"/>
            <a:ext cx="7620000" cy="2540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667000" y="4305300"/>
            <a:ext cx="838200" cy="2540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14000" y="4241800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11%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" y="490220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Bar 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67000" y="4965700"/>
            <a:ext cx="7620000" cy="2540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67000" y="4965700"/>
            <a:ext cx="228600" cy="2540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14000" y="4902200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5969000"/>
            <a:ext cx="10922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Source · placeholder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SLIDE / 32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E3DED3"/>
                </a:solidFill>
                <a:latin typeface="Noto Sans Mono"/>
              </a:rPr>
              <a:t>CHAPTER 02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921000"/>
            <a:ext cx="508000" cy="254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000" y="3302000"/>
            <a:ext cx="5461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C9A24A"/>
                </a:solidFill>
                <a:latin typeface="Noto Sans Mono"/>
              </a:rPr>
              <a:t>LAYOUT · CHAPTER INK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3556000"/>
            <a:ext cx="5461000" cy="279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0" spc="-89">
                <a:solidFill>
                  <a:srgbClr val="F0ECE4"/>
                </a:solidFill>
                <a:latin typeface="Noto Sans Light"/>
              </a:rPr>
              <a:t>02</a:t>
            </a:r>
          </a:p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6000" b="0" spc="-89">
                <a:solidFill>
                  <a:srgbClr val="F0ECE4"/>
                </a:solidFill>
                <a:latin typeface="Noto Sans Light"/>
              </a:rPr>
              <a:t>Chapter</a:t>
            </a:r>
          </a:p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6000" b="0" spc="-89">
                <a:solidFill>
                  <a:srgbClr val="F0ECE4"/>
                </a:solidFill>
                <a:latin typeface="Noto Sans Light"/>
              </a:rPr>
              <a:t>&amp; Picture.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D9D3C5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D9D3C5"/>
                </a:solidFill>
                <a:latin typeface="Noto Sans Mono"/>
              </a:rPr>
              <a:t>SLIDE 6 / 32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CHAPTER 01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292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3302000"/>
            <a:ext cx="1079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B1A33"/>
                </a:solidFill>
                <a:latin typeface="Noto Sans Mono"/>
              </a:rPr>
              <a:t>LAYOUT · CHAPTER ACCENT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3556000"/>
            <a:ext cx="7620000" cy="215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8000" b="0" spc="-280">
                <a:solidFill>
                  <a:srgbClr val="0B1A33"/>
                </a:solidFill>
                <a:latin typeface="Noto Sans Light"/>
              </a:rPr>
              <a:t>01</a:t>
            </a:r>
          </a:p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8000" b="0" spc="-280">
                <a:solidFill>
                  <a:srgbClr val="0B1A33"/>
                </a:solidFill>
                <a:latin typeface="Noto Sans Light"/>
              </a:rPr>
              <a:t>Chapter.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5000" y="4572000"/>
            <a:ext cx="33020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5000"/>
              </a:lnSpc>
            </a:pPr>
            <a:r>
              <a:rPr sz="8000" b="0" spc="-280">
                <a:solidFill>
                  <a:srgbClr val="8A6F2E"/>
                </a:solidFill>
                <a:latin typeface="Noto Sans Light"/>
              </a:rPr>
              <a:t>01 / 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SLIDE 5 / 32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LAYOUT · CHART + PHOTO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0" y="635000"/>
            <a:ext cx="5207000" cy="558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35000" y="1270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1524000"/>
            <a:ext cx="5588000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B1A33"/>
                </a:solidFill>
                <a:latin typeface="Noto Sans Mono"/>
              </a:rPr>
              <a:t>TREND</a:t>
            </a:r>
          </a:p>
        </p:txBody>
      </p:sp>
      <p:sp>
        <p:nvSpPr>
          <p:cNvPr id="7" name="feinschliff-title-title"/>
          <p:cNvSpPr txBox="1"/>
          <p:nvPr/>
        </p:nvSpPr>
        <p:spPr>
          <a:xfrm>
            <a:off x="635000" y="1778000"/>
            <a:ext cx="55880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spc="-27">
                <a:solidFill>
                  <a:srgbClr val="0B1A33"/>
                </a:solidFill>
                <a:latin typeface="Noto Sans"/>
              </a:rPr>
              <a:t>Floods, concentrated.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2565400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1970s</a:t>
            </a:r>
          </a:p>
        </p:txBody>
      </p:sp>
      <p:sp>
        <p:nvSpPr>
          <p:cNvPr id="9" name="Rectangle 8"/>
          <p:cNvSpPr/>
          <p:nvPr/>
        </p:nvSpPr>
        <p:spPr>
          <a:xfrm>
            <a:off x="1905000" y="2603500"/>
            <a:ext cx="3302000" cy="2286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905000" y="2603500"/>
            <a:ext cx="594360" cy="2286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70500" y="2565400"/>
            <a:ext cx="88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3124200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1980s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05000" y="3162300"/>
            <a:ext cx="3302000" cy="2286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05000" y="3162300"/>
            <a:ext cx="825500" cy="2286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70500" y="3124200"/>
            <a:ext cx="88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52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3683000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1990s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05000" y="3721100"/>
            <a:ext cx="3302000" cy="2286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905000" y="3721100"/>
            <a:ext cx="1320800" cy="2286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70500" y="3683000"/>
            <a:ext cx="88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84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000" y="4241800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2000s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05000" y="4279900"/>
            <a:ext cx="3302000" cy="2286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905000" y="4279900"/>
            <a:ext cx="2080260" cy="2286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70500" y="4241800"/>
            <a:ext cx="88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133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000" y="4800600"/>
            <a:ext cx="114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2010s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05000" y="4838700"/>
            <a:ext cx="3302000" cy="2286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905000" y="4838700"/>
            <a:ext cx="3302000" cy="2286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70500" y="4800600"/>
            <a:ext cx="889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211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000" y="5207000"/>
            <a:ext cx="5588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Major urban floods per decade, 1970–2020.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MAY 2026 · SHOWCASE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SLIDE 12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UI KIT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1143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1397000"/>
            <a:ext cx="1092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B1A33"/>
                </a:solidFill>
                <a:latin typeface="Noto Sans Mono"/>
              </a:rPr>
              <a:t>LAYOUT · COMPONENTS</a:t>
            </a:r>
          </a:p>
        </p:txBody>
      </p:sp>
      <p:sp>
        <p:nvSpPr>
          <p:cNvPr id="6" name="feinschliff-title-title"/>
          <p:cNvSpPr txBox="1"/>
          <p:nvPr/>
        </p:nvSpPr>
        <p:spPr>
          <a:xfrm>
            <a:off x="635000" y="1651000"/>
            <a:ext cx="10922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spc="-27">
                <a:solidFill>
                  <a:srgbClr val="0B1A33"/>
                </a:solidFill>
                <a:latin typeface="Noto Sans"/>
              </a:rPr>
              <a:t>UI library preview.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794000"/>
            <a:ext cx="5207000" cy="3302000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2984500"/>
            <a:ext cx="4699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BUTTONS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889000" y="3238500"/>
            <a:ext cx="1524000" cy="381000"/>
          </a:xfrm>
          <a:prstGeom prst="rect">
            <a:avLst/>
          </a:prstGeom>
          <a:solidFill>
            <a:srgbClr val="C9A24A"/>
          </a:solidFill>
          <a:ln w="6350">
            <a:solidFill>
              <a:srgbClr val="C9A24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6000" y="3352800"/>
            <a:ext cx="1270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B1A33"/>
                </a:solidFill>
                <a:latin typeface="Noto Sans Medium"/>
              </a:rPr>
              <a:t>Primary 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40000" y="3238500"/>
            <a:ext cx="1524000" cy="381000"/>
          </a:xfrm>
          <a:prstGeom prst="rect">
            <a:avLst/>
          </a:prstGeom>
          <a:solidFill>
            <a:srgbClr val="0B1A33"/>
          </a:solidFill>
          <a:ln w="6350">
            <a:solidFill>
              <a:srgbClr val="0B1A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67000" y="3352800"/>
            <a:ext cx="1270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F0ECE4"/>
                </a:solidFill>
                <a:latin typeface="Noto Sans Medium"/>
              </a:rPr>
              <a:t>Default 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91000" y="3238500"/>
            <a:ext cx="1524000" cy="381000"/>
          </a:xfrm>
          <a:prstGeom prst="rect">
            <a:avLst/>
          </a:prstGeom>
          <a:solidFill>
            <a:srgbClr val="FAF8F3"/>
          </a:solidFill>
          <a:ln w="6350">
            <a:solidFill>
              <a:srgbClr val="0B1A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18000" y="3352800"/>
            <a:ext cx="1270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B1A33"/>
                </a:solidFill>
                <a:latin typeface="Noto Sans Medium"/>
              </a:rPr>
              <a:t>Ghost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9000" y="3873500"/>
            <a:ext cx="4699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TAGS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9000" y="4127500"/>
            <a:ext cx="1143000" cy="317500"/>
          </a:xfrm>
          <a:prstGeom prst="rect">
            <a:avLst/>
          </a:prstGeom>
          <a:solidFill>
            <a:srgbClr val="0B1A33"/>
          </a:solidFill>
          <a:ln w="9525">
            <a:solidFill>
              <a:srgbClr val="0B1A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6000" y="4216400"/>
            <a:ext cx="889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64">
                <a:solidFill>
                  <a:srgbClr val="F0ECE4"/>
                </a:solidFill>
                <a:latin typeface="Noto Sans Mono Medium"/>
              </a:rPr>
              <a:t>PRODUCTION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59000" y="4127500"/>
            <a:ext cx="1143000" cy="317500"/>
          </a:xfrm>
          <a:prstGeom prst="rect">
            <a:avLst/>
          </a:prstGeom>
          <a:solidFill>
            <a:srgbClr val="C9A24A"/>
          </a:solidFill>
          <a:ln w="9525">
            <a:solidFill>
              <a:srgbClr val="C9A24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86000" y="4216400"/>
            <a:ext cx="889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64">
                <a:solidFill>
                  <a:srgbClr val="0B1A33"/>
                </a:solidFill>
                <a:latin typeface="Noto Sans Mono Medium"/>
              </a:rPr>
              <a:t>FEATURED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29000" y="4127500"/>
            <a:ext cx="889000" cy="317500"/>
          </a:xfrm>
          <a:prstGeom prst="rect">
            <a:avLst/>
          </a:prstGeom>
          <a:solidFill>
            <a:srgbClr val="8A6F2E"/>
          </a:solidFill>
          <a:ln w="9525">
            <a:solidFill>
              <a:srgbClr val="8A6F2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56000" y="4216400"/>
            <a:ext cx="635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64">
                <a:solidFill>
                  <a:srgbClr val="0B1A33"/>
                </a:solidFill>
                <a:latin typeface="Noto Sans Mono Medium"/>
              </a:rPr>
              <a:t>BETA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45000" y="4127500"/>
            <a:ext cx="1143000" cy="317500"/>
          </a:xfrm>
          <a:prstGeom prst="rect">
            <a:avLst/>
          </a:prstGeom>
          <a:solidFill>
            <a:srgbClr val="FAF8F3"/>
          </a:solidFill>
          <a:ln w="9525">
            <a:solidFill>
              <a:srgbClr val="0B1A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4216400"/>
            <a:ext cx="889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64">
                <a:solidFill>
                  <a:srgbClr val="0B1A33"/>
                </a:solidFill>
                <a:latin typeface="Noto Sans Mono Medium"/>
              </a:rPr>
              <a:t>ARCHIVED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0000" y="2794000"/>
            <a:ext cx="5207000" cy="3302000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04000" y="2984500"/>
            <a:ext cx="4699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RULES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04000" y="3429000"/>
            <a:ext cx="355600" cy="635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04000" y="3556000"/>
            <a:ext cx="4699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SECTION · 56 × 1 · INK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04000" y="4064000"/>
            <a:ext cx="508000" cy="254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04000" y="4191000"/>
            <a:ext cx="4699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EMPHASIS · 80 × 4 · ORANGE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04000" y="4826000"/>
            <a:ext cx="4699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04000" y="4953000"/>
            <a:ext cx="4699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HAIRLINE · WIDTH × 1 · FOG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SLIDE 14 / 32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0" y="2222500"/>
            <a:ext cx="762000" cy="254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einschliff-title-display-xl"/>
          <p:cNvSpPr txBox="1"/>
          <p:nvPr/>
        </p:nvSpPr>
        <p:spPr>
          <a:xfrm>
            <a:off x="0" y="2540000"/>
            <a:ext cx="12192000" cy="165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10000" b="0" spc="-350">
                <a:solidFill>
                  <a:srgbClr val="0B1A33"/>
                </a:solidFill>
                <a:latin typeface="Noto Sans Light"/>
              </a:rPr>
              <a:t>Thank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572000"/>
            <a:ext cx="12192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0B1A33"/>
                </a:solidFill>
                <a:latin typeface="Noto Sans Mono"/>
              </a:rPr>
              <a:t>FEINSCHLIFF · V0.1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SLIDE 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114800"/>
            <a:ext cx="12192000" cy="2743200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41148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41148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END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0" y="4572000"/>
            <a:ext cx="762000" cy="254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einschliff-title-display-xl"/>
          <p:cNvSpPr txBox="1"/>
          <p:nvPr/>
        </p:nvSpPr>
        <p:spPr>
          <a:xfrm>
            <a:off x="0" y="4699000"/>
            <a:ext cx="121920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5000"/>
              </a:lnSpc>
            </a:pPr>
            <a:r>
              <a:rPr sz="10000" b="0" spc="-350">
                <a:solidFill>
                  <a:srgbClr val="0B1A33"/>
                </a:solidFill>
                <a:latin typeface="Noto Sans Light"/>
              </a:rPr>
              <a:t>Thank you.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096000"/>
            <a:ext cx="12192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0B1A33"/>
                </a:solidFill>
                <a:latin typeface="Noto Sans Mono"/>
              </a:rPr>
              <a:t>WATER-CYCLE SHOWCASE · V1 · 2026-05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MAY 2026 · SHOWCASE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30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1143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1397000"/>
            <a:ext cx="1092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B1A33"/>
                </a:solidFill>
                <a:latin typeface="Noto Sans Mono"/>
              </a:rPr>
              <a:t>HOW REQUESTS FLOW</a:t>
            </a:r>
          </a:p>
        </p:txBody>
      </p:sp>
      <p:sp>
        <p:nvSpPr>
          <p:cNvPr id="6" name="feinschliff-title-title"/>
          <p:cNvSpPr txBox="1"/>
          <p:nvPr/>
        </p:nvSpPr>
        <p:spPr>
          <a:xfrm>
            <a:off x="635000" y="1651000"/>
            <a:ext cx="10922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spc="-27">
                <a:solidFill>
                  <a:srgbClr val="0B1A33"/>
                </a:solidFill>
                <a:latin typeface="Noto Sans"/>
              </a:rPr>
              <a:t>Three sinks behind one API: cache, DB, queue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7230" y="2540000"/>
            <a:ext cx="6877538" cy="203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000" y="5080000"/>
            <a:ext cx="1092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So what: Reads serve from cache, writes commit to DB, side-effects fan out to the queue — three sinks, one API surface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5524500"/>
            <a:ext cx="10922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Internal load test, 2026-05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FEINSCHLIFF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V0.3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1143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1397000"/>
            <a:ext cx="1092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B1A33"/>
                </a:solidFill>
                <a:latin typeface="Noto Sans Mono"/>
              </a:rPr>
              <a:t>REQUEST LIFECYCLE ACROSS THE PLATFORM</a:t>
            </a:r>
          </a:p>
        </p:txBody>
      </p:sp>
      <p:sp>
        <p:nvSpPr>
          <p:cNvPr id="6" name="feinschliff-title-title"/>
          <p:cNvSpPr txBox="1"/>
          <p:nvPr/>
        </p:nvSpPr>
        <p:spPr>
          <a:xfrm>
            <a:off x="635000" y="1651000"/>
            <a:ext cx="10922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spc="-27">
                <a:solidFill>
                  <a:srgbClr val="0B1A33"/>
                </a:solidFill>
                <a:latin typeface="Noto Sans"/>
              </a:rPr>
              <a:t>Twelve hops from edge to durable storage.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9163" y="2032000"/>
            <a:ext cx="9213673" cy="3937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000" y="6159500"/>
            <a:ext cx="10922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So what: P95 budget = 80 ms; 32 ms is the policy round-trip — cache decisions per request, refresh out-of-band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FEINSCHLIFF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V0.3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1143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1397000"/>
            <a:ext cx="1092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B1A33"/>
                </a:solidFill>
                <a:latin typeface="Noto Sans Mono"/>
              </a:rPr>
              <a:t>LAYOUT · EXECUTIVE SUMMARY</a:t>
            </a:r>
          </a:p>
        </p:txBody>
      </p:sp>
      <p:sp>
        <p:nvSpPr>
          <p:cNvPr id="6" name="feinschliff-title-title"/>
          <p:cNvSpPr txBox="1"/>
          <p:nvPr/>
        </p:nvSpPr>
        <p:spPr>
          <a:xfrm>
            <a:off x="635000" y="1651000"/>
            <a:ext cx="10922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spc="-27">
                <a:solidFill>
                  <a:srgbClr val="0B1A33"/>
                </a:solidFill>
                <a:latin typeface="Noto Sans"/>
              </a:rPr>
              <a:t>One-line summary statement that frames the entire deck.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286000"/>
            <a:ext cx="10922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Two-to-three-sentence paragraph that elaborates on the headline and points to the supporting evidence.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3175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C9A24A"/>
                </a:solidFill>
                <a:latin typeface="Noto Sans Mono"/>
              </a:rPr>
              <a:t>INSIGHTS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000" y="3365500"/>
            <a:ext cx="5334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000" y="3543300"/>
            <a:ext cx="76200" cy="762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7400" y="3454400"/>
            <a:ext cx="5080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Insight 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400" y="3708400"/>
            <a:ext cx="5080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Description of insight 1.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000" y="4025900"/>
            <a:ext cx="76200" cy="762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7400" y="3937000"/>
            <a:ext cx="5080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Insight 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7400" y="4191000"/>
            <a:ext cx="5080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Description of insight 2.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000" y="4508500"/>
            <a:ext cx="76200" cy="762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7400" y="4419600"/>
            <a:ext cx="5080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Insight 3.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7400" y="4673600"/>
            <a:ext cx="5080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Description of insight 3.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000" y="4991100"/>
            <a:ext cx="76200" cy="762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7400" y="4902200"/>
            <a:ext cx="5080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Insight 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7400" y="5156200"/>
            <a:ext cx="5080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Description of insight 4.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0000" y="3175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C9A24A"/>
                </a:solidFill>
                <a:latin typeface="Noto Sans Mono"/>
              </a:rPr>
              <a:t>NEXT STEPS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0000" y="3365500"/>
            <a:ext cx="5207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50000" y="3543300"/>
            <a:ext cx="76200" cy="762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02400" y="3454400"/>
            <a:ext cx="4953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Next step 1.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2400" y="3708400"/>
            <a:ext cx="495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Description of next step 1.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50000" y="4025900"/>
            <a:ext cx="76200" cy="762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02400" y="3937000"/>
            <a:ext cx="4953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Next step 2.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02400" y="4191000"/>
            <a:ext cx="495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Description of next step 2.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50000" y="4508500"/>
            <a:ext cx="76200" cy="762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2400" y="4419600"/>
            <a:ext cx="4953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Next step 3.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02400" y="4673600"/>
            <a:ext cx="495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Description of next step 3.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50000" y="4991100"/>
            <a:ext cx="76200" cy="762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02400" y="4902200"/>
            <a:ext cx="4953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Next step 4.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02400" y="5156200"/>
            <a:ext cx="495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Description of next step 4.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5000" y="54610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191000" y="5461000"/>
            <a:ext cx="6350" cy="5080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47000" y="5461000"/>
            <a:ext cx="6350" cy="5080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5000" y="5524500"/>
            <a:ext cx="190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0" spc="-179">
                <a:solidFill>
                  <a:srgbClr val="0B1A33"/>
                </a:solidFill>
                <a:latin typeface="Noto Sans Light"/>
              </a:rPr>
              <a:t>+5.1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40000" y="5676900"/>
            <a:ext cx="381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2D3A52"/>
                </a:solidFill>
                <a:latin typeface="Noto Sans Light"/>
              </a:rPr>
              <a:t>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48000" y="5676900"/>
            <a:ext cx="1143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KPI LABEL 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45000" y="5524500"/>
            <a:ext cx="190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0" spc="-179">
                <a:solidFill>
                  <a:srgbClr val="0B1A33"/>
                </a:solidFill>
                <a:latin typeface="Noto Sans Light"/>
              </a:rPr>
              <a:t>2.4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0" y="5676900"/>
            <a:ext cx="381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2D3A52"/>
                </a:solidFill>
                <a:latin typeface="Noto Sans Light"/>
              </a:rPr>
              <a:t>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0" y="5676900"/>
            <a:ext cx="889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KPI LABEL 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1000" y="5524500"/>
            <a:ext cx="190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0" spc="-179">
                <a:solidFill>
                  <a:srgbClr val="0B1A33"/>
                </a:solidFill>
                <a:latin typeface="Noto Sans Light"/>
              </a:rPr>
              <a:t>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06000" y="5676900"/>
            <a:ext cx="381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2D3A52"/>
                </a:solidFill>
                <a:latin typeface="Noto Sans Light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14000" y="5676900"/>
            <a:ext cx="1143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KPI LABEL 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SLIDE 26 / 32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LAYOUT · 4-COLUMN CARDS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1143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1397000"/>
            <a:ext cx="1079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B1A33"/>
                </a:solidFill>
                <a:latin typeface="Noto Sans Mono"/>
              </a:rPr>
              <a:t>PLAN, BUILD, PILOT, SCALE</a:t>
            </a:r>
          </a:p>
        </p:txBody>
      </p:sp>
      <p:sp>
        <p:nvSpPr>
          <p:cNvPr id="6" name="feinschliff-title-title"/>
          <p:cNvSpPr txBox="1"/>
          <p:nvPr/>
        </p:nvSpPr>
        <p:spPr>
          <a:xfrm>
            <a:off x="635000" y="1651000"/>
            <a:ext cx="107950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spc="-27">
                <a:solidFill>
                  <a:srgbClr val="0B1A33"/>
                </a:solidFill>
                <a:latin typeface="Noto Sans"/>
              </a:rPr>
              <a:t>Four columns.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921000"/>
            <a:ext cx="2501900" cy="3048000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3175000"/>
            <a:ext cx="19939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0">
                <a:solidFill>
                  <a:srgbClr val="C9A24A"/>
                </a:solidFill>
                <a:latin typeface="Noto Sans Mono"/>
              </a:rPr>
              <a:t>Q1 · PHASE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3454400"/>
            <a:ext cx="19939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spc="-16">
                <a:solidFill>
                  <a:srgbClr val="0B1A33"/>
                </a:solidFill>
                <a:latin typeface="Noto Sans Medium"/>
              </a:rPr>
              <a:t>Lead sentence for phase 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" y="4419600"/>
            <a:ext cx="19939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2D3A52"/>
                </a:solidFill>
                <a:latin typeface="Noto Sans"/>
              </a:rPr>
              <a:t>Supporting detail.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41700" y="2921000"/>
            <a:ext cx="2501900" cy="3048000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95700" y="3175000"/>
            <a:ext cx="19939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0">
                <a:solidFill>
                  <a:srgbClr val="C9A24A"/>
                </a:solidFill>
                <a:latin typeface="Noto Sans Mono"/>
              </a:rPr>
              <a:t>Q2 · PHASE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95700" y="3454400"/>
            <a:ext cx="19939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spc="-16">
                <a:solidFill>
                  <a:srgbClr val="0B1A33"/>
                </a:solidFill>
                <a:latin typeface="Noto Sans Medium"/>
              </a:rPr>
              <a:t>Lead sentence for phase two.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95700" y="4419600"/>
            <a:ext cx="19939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2D3A52"/>
                </a:solidFill>
                <a:latin typeface="Noto Sans"/>
              </a:rPr>
              <a:t>Supporting detail.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48400" y="2921000"/>
            <a:ext cx="2501900" cy="3048000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2400" y="3175000"/>
            <a:ext cx="19939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0">
                <a:solidFill>
                  <a:srgbClr val="C9A24A"/>
                </a:solidFill>
                <a:latin typeface="Noto Sans Mono"/>
              </a:rPr>
              <a:t>Q3 · PHASE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2400" y="3454400"/>
            <a:ext cx="19939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spc="-16">
                <a:solidFill>
                  <a:srgbClr val="0B1A33"/>
                </a:solidFill>
                <a:latin typeface="Noto Sans Medium"/>
              </a:rPr>
              <a:t>Lead sentence for phase three.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2400" y="4419600"/>
            <a:ext cx="19939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2D3A52"/>
                </a:solidFill>
                <a:latin typeface="Noto Sans"/>
              </a:rPr>
              <a:t>Supporting detail.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5100" y="2921000"/>
            <a:ext cx="2501900" cy="3048000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09100" y="3175000"/>
            <a:ext cx="19939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0">
                <a:solidFill>
                  <a:srgbClr val="C9A24A"/>
                </a:solidFill>
                <a:latin typeface="Noto Sans Mono"/>
              </a:rPr>
              <a:t>Q4 · PHASE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09100" y="3454400"/>
            <a:ext cx="19939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spc="-16">
                <a:solidFill>
                  <a:srgbClr val="0B1A33"/>
                </a:solidFill>
                <a:latin typeface="Noto Sans Medium"/>
              </a:rPr>
              <a:t>Lead sentence for phase four.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09100" y="4419600"/>
            <a:ext cx="19939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2D3A52"/>
                </a:solidFill>
                <a:latin typeface="Noto Sans"/>
              </a:rPr>
              <a:t>Supporting detail.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SLIDE 10 / 32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COVER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000" y="4064000"/>
            <a:ext cx="5207000" cy="20320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9000" y="42672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4457700"/>
            <a:ext cx="4699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B1A33"/>
                </a:solidFill>
                <a:latin typeface="Noto Sans Mono"/>
              </a:rPr>
              <a:t>LAYOUT · FULL-BLEED COVER</a:t>
            </a:r>
          </a:p>
        </p:txBody>
      </p:sp>
      <p:sp>
        <p:nvSpPr>
          <p:cNvPr id="9" name="feinschliff-title-quote"/>
          <p:cNvSpPr txBox="1"/>
          <p:nvPr/>
        </p:nvSpPr>
        <p:spPr>
          <a:xfrm>
            <a:off x="889000" y="4648200"/>
            <a:ext cx="46990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0" spc="-105">
                <a:solidFill>
                  <a:srgbClr val="0B1A33"/>
                </a:solidFill>
                <a:latin typeface="Noto Sans Light"/>
              </a:rPr>
              <a:t>An image does</a:t>
            </a:r>
          </a:p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4200" b="0" spc="-105">
                <a:solidFill>
                  <a:srgbClr val="0B1A33"/>
                </a:solidFill>
                <a:latin typeface="Noto Sans Light"/>
              </a:rPr>
              <a:t>the talking.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SLIDE 12 / 32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LAYOUT · FULL-BLEED EDITORIAL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4699000"/>
            <a:ext cx="4826000" cy="15240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4927600"/>
            <a:ext cx="381000" cy="254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000" y="5054600"/>
            <a:ext cx="4445000" cy="469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FAF8F3"/>
                </a:solidFill>
                <a:latin typeface="Noto Sans Medium"/>
              </a:rPr>
              <a:t>And it's changing faster than we measured for.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5651500"/>
            <a:ext cx="4445000" cy="40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A9BCD6"/>
                </a:solidFill>
                <a:latin typeface="Noto Sans"/>
              </a:rPr>
              <a:t>Lake Mead, 2023. Sediment line marks 1983 high-water.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MAY 2026 · SHOWCASE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SLIDE 9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LAYOUT · FUNNEL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1143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1397000"/>
            <a:ext cx="1092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B1A33"/>
                </a:solidFill>
                <a:latin typeface="Noto Sans Mono"/>
              </a:rPr>
              <a:t>LAYOUT · FUNNEL</a:t>
            </a:r>
          </a:p>
        </p:txBody>
      </p:sp>
      <p:sp>
        <p:nvSpPr>
          <p:cNvPr id="6" name="feinschliff-title-title"/>
          <p:cNvSpPr txBox="1"/>
          <p:nvPr/>
        </p:nvSpPr>
        <p:spPr>
          <a:xfrm>
            <a:off x="635000" y="1651000"/>
            <a:ext cx="10922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spc="-27">
                <a:solidFill>
                  <a:srgbClr val="0B1A33"/>
                </a:solidFill>
                <a:latin typeface="Noto Sans"/>
              </a:rPr>
              <a:t>Headline takeaway about the funnel drop-off.</a:t>
            </a:r>
          </a:p>
        </p:txBody>
      </p:sp>
      <p:sp>
        <p:nvSpPr>
          <p:cNvPr id="7" name="Trapezoid 6"/>
          <p:cNvSpPr/>
          <p:nvPr/>
        </p:nvSpPr>
        <p:spPr>
          <a:xfrm rot="10800000">
            <a:off x="635000" y="2921000"/>
            <a:ext cx="2794000" cy="635000"/>
          </a:xfrm>
          <a:prstGeom prst="trapezoid">
            <a:avLst>
              <a:gd name="adj" fmla="val 40000"/>
            </a:avLst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rapezoid 7"/>
          <p:cNvSpPr/>
          <p:nvPr/>
        </p:nvSpPr>
        <p:spPr>
          <a:xfrm rot="10800000">
            <a:off x="889000" y="3556000"/>
            <a:ext cx="2286000" cy="635000"/>
          </a:xfrm>
          <a:prstGeom prst="trapezoid">
            <a:avLst>
              <a:gd name="adj" fmla="val 40000"/>
            </a:avLst>
          </a:prstGeom>
          <a:solidFill>
            <a:srgbClr val="2D47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rapezoid 8"/>
          <p:cNvSpPr/>
          <p:nvPr/>
        </p:nvSpPr>
        <p:spPr>
          <a:xfrm rot="10800000">
            <a:off x="1143000" y="4191000"/>
            <a:ext cx="1778000" cy="635000"/>
          </a:xfrm>
          <a:prstGeom prst="trapezoid">
            <a:avLst>
              <a:gd name="adj" fmla="val 40000"/>
            </a:avLst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rapezoid 9"/>
          <p:cNvSpPr/>
          <p:nvPr/>
        </p:nvSpPr>
        <p:spPr>
          <a:xfrm rot="10800000">
            <a:off x="1397000" y="4826000"/>
            <a:ext cx="1270000" cy="635000"/>
          </a:xfrm>
          <a:prstGeom prst="trapezoid">
            <a:avLst>
              <a:gd name="adj" fmla="val 40000"/>
            </a:avLst>
          </a:prstGeom>
          <a:solidFill>
            <a:srgbClr val="162A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83000" y="2794000"/>
            <a:ext cx="4318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10000" y="2921000"/>
            <a:ext cx="241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Stage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10000" y="3175000"/>
            <a:ext cx="2413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Description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2921000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100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175000"/>
            <a:ext cx="1016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100%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83000" y="3429000"/>
            <a:ext cx="4318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10000" y="3556000"/>
            <a:ext cx="241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Stage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10000" y="3810000"/>
            <a:ext cx="2413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Description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3556000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84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3810000"/>
            <a:ext cx="1016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84%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83000" y="4064000"/>
            <a:ext cx="4318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10000" y="4191000"/>
            <a:ext cx="241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Stage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10000" y="4445000"/>
            <a:ext cx="2413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Description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4191000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62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4445000"/>
            <a:ext cx="1016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62%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83000" y="4699000"/>
            <a:ext cx="4318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10000" y="4826000"/>
            <a:ext cx="2413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Stage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10000" y="5080000"/>
            <a:ext cx="2413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Description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4826000"/>
            <a:ext cx="76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37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5080000"/>
            <a:ext cx="1016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37%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83000" y="5334000"/>
            <a:ext cx="4318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55000" y="2794000"/>
            <a:ext cx="3302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55000" y="2921000"/>
            <a:ext cx="3302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8A6F2E"/>
                </a:solidFill>
                <a:latin typeface="Noto Sans Medium"/>
              </a:rPr>
              <a:t>−22 pt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55000" y="3238500"/>
            <a:ext cx="3302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0B1A33"/>
                </a:solidFill>
                <a:latin typeface="Noto Sans Mono"/>
              </a:rPr>
              <a:t>STAGE 1 → 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55000" y="3479800"/>
            <a:ext cx="3302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Annotation explaining the largest drop-off.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55000" y="4064000"/>
            <a:ext cx="3302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55000" y="4191000"/>
            <a:ext cx="3302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8A6F2E"/>
                </a:solidFill>
                <a:latin typeface="Noto Sans Medium"/>
              </a:rPr>
              <a:t>−14 pt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55000" y="4508500"/>
            <a:ext cx="3302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0B1A33"/>
                </a:solidFill>
                <a:latin typeface="Noto Sans Mono"/>
              </a:rPr>
              <a:t>STAGE 3 → 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55000" y="4749800"/>
            <a:ext cx="3302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Annotation explaining the secondary drop-off.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55000" y="5334000"/>
            <a:ext cx="3302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SLIDE 30 / 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LAYOUT · GANTT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1143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1397000"/>
            <a:ext cx="1092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B1A33"/>
                </a:solidFill>
                <a:latin typeface="Noto Sans Mono"/>
              </a:rPr>
              <a:t>LAYOUT · GANTT</a:t>
            </a:r>
          </a:p>
        </p:txBody>
      </p:sp>
      <p:sp>
        <p:nvSpPr>
          <p:cNvPr id="6" name="feinschliff-title-title"/>
          <p:cNvSpPr txBox="1"/>
          <p:nvPr/>
        </p:nvSpPr>
        <p:spPr>
          <a:xfrm>
            <a:off x="635000" y="1651000"/>
            <a:ext cx="10922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spc="-27">
                <a:solidFill>
                  <a:srgbClr val="0B1A33"/>
                </a:solidFill>
                <a:latin typeface="Noto Sans"/>
              </a:rPr>
              <a:t>Headline takeaway about the delivery plan.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2540000"/>
            <a:ext cx="2159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Q1 · 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540000"/>
            <a:ext cx="2159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Q2 · 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540000"/>
            <a:ext cx="2159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Q3 · PILOT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540000"/>
            <a:ext cx="2159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Q4 · SCALE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22500" y="2794000"/>
            <a:ext cx="6350" cy="21590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08500" y="2794000"/>
            <a:ext cx="6350" cy="21590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794500" y="2794000"/>
            <a:ext cx="6350" cy="21590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080500" y="2794000"/>
            <a:ext cx="6350" cy="21590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366500" y="2794000"/>
            <a:ext cx="6350" cy="21590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5000" y="27940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000" y="2921000"/>
            <a:ext cx="1778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C9A24A"/>
                </a:solidFill>
                <a:latin typeface="Noto Sans Mono"/>
              </a:rPr>
              <a:t>WORKSTREAM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" y="3073400"/>
            <a:ext cx="1778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OWNER · TEAM 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0" y="2921000"/>
            <a:ext cx="4572000" cy="2540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13000" y="2984500"/>
            <a:ext cx="4318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0B1A33"/>
                </a:solidFill>
                <a:latin typeface="Noto Sans Mono"/>
              </a:rPr>
              <a:t>MILESTONE 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000" y="33020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000" y="3429000"/>
            <a:ext cx="1778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C9A24A"/>
                </a:solidFill>
                <a:latin typeface="Noto Sans Mono"/>
              </a:rPr>
              <a:t>WORKSTREAM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3581400"/>
            <a:ext cx="1778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OWNER · TEAM 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86000" y="3429000"/>
            <a:ext cx="4572000" cy="2540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13000" y="3492500"/>
            <a:ext cx="4318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F0ECE4"/>
                </a:solidFill>
                <a:latin typeface="Noto Sans Mono"/>
              </a:rPr>
              <a:t>MILESTONE 2</a:t>
            </a:r>
          </a:p>
        </p:txBody>
      </p:sp>
      <p:sp>
        <p:nvSpPr>
          <p:cNvPr id="26" name="Diamond 25"/>
          <p:cNvSpPr/>
          <p:nvPr/>
        </p:nvSpPr>
        <p:spPr>
          <a:xfrm>
            <a:off x="6731000" y="3479800"/>
            <a:ext cx="152400" cy="152400"/>
          </a:xfrm>
          <a:prstGeom prst="diamond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5000" y="38100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000" y="3937000"/>
            <a:ext cx="1778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C9A24A"/>
                </a:solidFill>
                <a:latin typeface="Noto Sans Mono"/>
              </a:rPr>
              <a:t>WORKSTREAM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000" y="4089400"/>
            <a:ext cx="1778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OWNER · TEAM 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0" y="3937000"/>
            <a:ext cx="4572000" cy="2540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85000" y="4000500"/>
            <a:ext cx="4318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0B1A33"/>
                </a:solidFill>
                <a:latin typeface="Noto Sans Mono"/>
              </a:rPr>
              <a:t>MILESTONE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000" y="43180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000" y="4445000"/>
            <a:ext cx="1778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C9A24A"/>
                </a:solidFill>
                <a:latin typeface="Noto Sans Mono"/>
              </a:rPr>
              <a:t>WORKSTREAM 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000" y="4597400"/>
            <a:ext cx="1778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OWNER · TEAM 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0" y="4445000"/>
            <a:ext cx="2286000" cy="2540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85000" y="4508500"/>
            <a:ext cx="2032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F0ECE4"/>
                </a:solidFill>
                <a:latin typeface="Noto Sans Mono"/>
              </a:rPr>
              <a:t>PREVIEW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0" y="4445000"/>
            <a:ext cx="2286000" cy="2540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71000" y="4508500"/>
            <a:ext cx="2032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0B1A33"/>
                </a:solidFill>
                <a:latin typeface="Noto Sans Mono"/>
              </a:rPr>
              <a:t>GA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5000" y="48260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5000" y="5016500"/>
            <a:ext cx="10922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COMMITTED · CRITICAL PATH · DEPENDENCY WINDOW · MILESTONE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SLIDE 29 / 32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LAYOUT · GRAPHICAL BARS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1143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1397000"/>
            <a:ext cx="1092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B1A33"/>
                </a:solidFill>
                <a:latin typeface="Noto Sans Mono"/>
              </a:rPr>
              <a:t>LAYOUT · GRAPHICAL BARS</a:t>
            </a:r>
          </a:p>
        </p:txBody>
      </p:sp>
      <p:sp>
        <p:nvSpPr>
          <p:cNvPr id="6" name="feinschliff-title-title"/>
          <p:cNvSpPr txBox="1"/>
          <p:nvPr/>
        </p:nvSpPr>
        <p:spPr>
          <a:xfrm>
            <a:off x="635000" y="1651000"/>
            <a:ext cx="109220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spc="-27">
                <a:solidFill>
                  <a:srgbClr val="0B1A33"/>
                </a:solidFill>
                <a:latin typeface="Noto Sans"/>
              </a:rPr>
              <a:t>Headline takeaway from the chart.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92100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Bar A</a:t>
            </a:r>
          </a:p>
        </p:txBody>
      </p:sp>
      <p:sp>
        <p:nvSpPr>
          <p:cNvPr id="8" name="Rectangle 7"/>
          <p:cNvSpPr/>
          <p:nvPr/>
        </p:nvSpPr>
        <p:spPr>
          <a:xfrm>
            <a:off x="2667000" y="2984500"/>
            <a:ext cx="4318000" cy="2540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67000" y="2984500"/>
            <a:ext cx="2677160" cy="2540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12000" y="2921000"/>
            <a:ext cx="101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62%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358140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Bar 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67000" y="3644900"/>
            <a:ext cx="4318000" cy="2540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67000" y="3644900"/>
            <a:ext cx="1036319" cy="2540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12000" y="3581400"/>
            <a:ext cx="101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24%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000" y="424180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Bar 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67000" y="4305300"/>
            <a:ext cx="4318000" cy="2540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667000" y="4305300"/>
            <a:ext cx="474980" cy="2540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12000" y="4241800"/>
            <a:ext cx="101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11%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" y="4902200"/>
            <a:ext cx="1905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Bar 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67000" y="4965700"/>
            <a:ext cx="4318000" cy="2540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67000" y="4965700"/>
            <a:ext cx="129539" cy="2540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12000" y="4902200"/>
            <a:ext cx="101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5969000"/>
            <a:ext cx="10922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Source · placeholder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SLIDE 13 / 32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LAYOUT · HORIZONTAL BULLETS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1143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1397000"/>
            <a:ext cx="1092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B1A33"/>
                </a:solidFill>
                <a:latin typeface="Noto Sans Mono"/>
              </a:rPr>
              <a:t>THREE FORCES</a:t>
            </a:r>
          </a:p>
        </p:txBody>
      </p:sp>
      <p:sp>
        <p:nvSpPr>
          <p:cNvPr id="6" name="feinschliff-title-title"/>
          <p:cNvSpPr txBox="1"/>
          <p:nvPr/>
        </p:nvSpPr>
        <p:spPr>
          <a:xfrm>
            <a:off x="635000" y="1651000"/>
            <a:ext cx="10922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spc="-27">
                <a:solidFill>
                  <a:srgbClr val="0B1A33"/>
                </a:solidFill>
                <a:latin typeface="Noto Sans"/>
              </a:rPr>
              <a:t>Three structured takeaways across one row.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91000" y="2667000"/>
            <a:ext cx="6350" cy="33020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01000" y="2667000"/>
            <a:ext cx="6350" cy="33020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" y="2794000"/>
            <a:ext cx="3302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3048000"/>
            <a:ext cx="3302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Heading 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2135" y="3810000"/>
            <a:ext cx="3276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2D3A52"/>
                </a:solidFill>
                <a:latin typeface="Noto Sans"/>
              </a:rPr>
              <a:t>• Bullet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2135" y="4089400"/>
            <a:ext cx="3276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2D3A52"/>
                </a:solidFill>
                <a:latin typeface="Noto Sans"/>
              </a:rPr>
              <a:t>• Bullet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2135" y="4368800"/>
            <a:ext cx="3276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2D3A52"/>
                </a:solidFill>
                <a:latin typeface="Noto Sans"/>
              </a:rPr>
              <a:t>• Bullet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5000" y="2794000"/>
            <a:ext cx="3302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5000" y="3048000"/>
            <a:ext cx="3302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Heading 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535" y="3810000"/>
            <a:ext cx="3251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2D3A52"/>
                </a:solidFill>
                <a:latin typeface="Noto Sans"/>
              </a:rPr>
              <a:t>• Bullet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535" y="4089400"/>
            <a:ext cx="3251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2D3A52"/>
                </a:solidFill>
                <a:latin typeface="Noto Sans"/>
              </a:rPr>
              <a:t>• Bullet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535" y="4368800"/>
            <a:ext cx="3251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2D3A52"/>
                </a:solidFill>
                <a:latin typeface="Noto Sans"/>
              </a:rPr>
              <a:t>• Bullet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5000" y="2794000"/>
            <a:ext cx="3302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5000" y="3048000"/>
            <a:ext cx="3302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Heading 3.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17534" y="3810000"/>
            <a:ext cx="3251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2D3A52"/>
                </a:solidFill>
                <a:latin typeface="Noto Sans"/>
              </a:rPr>
              <a:t>• Bullet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7534" y="4089400"/>
            <a:ext cx="3251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2D3A52"/>
                </a:solidFill>
                <a:latin typeface="Noto Sans"/>
              </a:rPr>
              <a:t>• Bullet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7534" y="4368800"/>
            <a:ext cx="3251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2D3A52"/>
                </a:solidFill>
                <a:latin typeface="Noto Sans"/>
              </a:rPr>
              <a:t>• Bullet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SLIDE 17 / 32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E3DED3"/>
                </a:solidFill>
                <a:latin typeface="Noto Sans Mono"/>
              </a:rPr>
              <a:t>LAYOUT · 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1143000"/>
            <a:ext cx="10922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spc="96">
                <a:solidFill>
                  <a:srgbClr val="A9BCD6"/>
                </a:solidFill>
                <a:latin typeface="Noto Sans Mono"/>
              </a:rPr>
              <a:t>THREE TO REMEMBER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397000"/>
            <a:ext cx="1092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spc="108">
                <a:solidFill>
                  <a:srgbClr val="C9A24A"/>
                </a:solidFill>
                <a:latin typeface="Noto Sans Mono"/>
              </a:rPr>
              <a:t>KEY TAKEAWAYS</a:t>
            </a:r>
          </a:p>
        </p:txBody>
      </p:sp>
      <p:sp>
        <p:nvSpPr>
          <p:cNvPr id="7" name="feinschliff-title-act-title"/>
          <p:cNvSpPr txBox="1"/>
          <p:nvPr/>
        </p:nvSpPr>
        <p:spPr>
          <a:xfrm>
            <a:off x="635000" y="1651000"/>
            <a:ext cx="10287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0" spc="-56">
                <a:solidFill>
                  <a:srgbClr val="F0ECE4"/>
                </a:solidFill>
                <a:latin typeface="Noto Sans"/>
              </a:rPr>
              <a:t>Three things to remember from this section.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" y="2921000"/>
            <a:ext cx="508000" cy="254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" y="3175000"/>
            <a:ext cx="2413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C9A24A"/>
                </a:solidFill>
                <a:latin typeface="Noto Sans Mono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3429000"/>
            <a:ext cx="2413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F0ECE4"/>
                </a:solidFill>
                <a:latin typeface="Noto Sans Medium"/>
              </a:rPr>
              <a:t>Takeaway 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4064000"/>
            <a:ext cx="24130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A9BCD6"/>
                </a:solidFill>
                <a:latin typeface="Noto Sans"/>
              </a:rPr>
              <a:t>One- or two-sentence elaboration of the first takeaway.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5969000"/>
            <a:ext cx="2413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D9D3C5"/>
                </a:solidFill>
                <a:latin typeface="Noto Sans Mono"/>
              </a:rPr>
              <a:t>Owner · Role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56000" y="2921000"/>
            <a:ext cx="508000" cy="254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56000" y="3175000"/>
            <a:ext cx="2413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C9A24A"/>
                </a:solidFill>
                <a:latin typeface="Noto Sans Mono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0" y="3429000"/>
            <a:ext cx="2413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F0ECE4"/>
                </a:solidFill>
                <a:latin typeface="Noto Sans Medium"/>
              </a:rPr>
              <a:t>Takeaway 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6000" y="4064000"/>
            <a:ext cx="24130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A9BCD6"/>
                </a:solidFill>
                <a:latin typeface="Noto Sans"/>
              </a:rPr>
              <a:t>One- or two-sentence elaboration of the second takeaway.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6000" y="5969000"/>
            <a:ext cx="2413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D9D3C5"/>
                </a:solidFill>
                <a:latin typeface="Noto Sans Mono"/>
              </a:rPr>
              <a:t>Owner · Role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77000" y="2921000"/>
            <a:ext cx="508000" cy="254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7000" y="3175000"/>
            <a:ext cx="2413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C9A24A"/>
                </a:solidFill>
                <a:latin typeface="Noto Sans Mono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7000" y="3429000"/>
            <a:ext cx="2413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F0ECE4"/>
                </a:solidFill>
                <a:latin typeface="Noto Sans Medium"/>
              </a:rPr>
              <a:t>Takeaway 3.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7000" y="4064000"/>
            <a:ext cx="24130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A9BCD6"/>
                </a:solidFill>
                <a:latin typeface="Noto Sans"/>
              </a:rPr>
              <a:t>One- or two-sentence elaboration of the third takeaway.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7000" y="5969000"/>
            <a:ext cx="2413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D9D3C5"/>
                </a:solidFill>
                <a:latin typeface="Noto Sans Mono"/>
              </a:rPr>
              <a:t>Owner · Role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398000" y="2921000"/>
            <a:ext cx="508000" cy="254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98000" y="3175000"/>
            <a:ext cx="2413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C9A24A"/>
                </a:solidFill>
                <a:latin typeface="Noto Sans Mono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98000" y="3429000"/>
            <a:ext cx="2413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F0ECE4"/>
                </a:solidFill>
                <a:latin typeface="Noto Sans Medium"/>
              </a:rPr>
              <a:t>Ship weekly.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98000" y="4064000"/>
            <a:ext cx="24130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A9BCD6"/>
                </a:solidFill>
                <a:latin typeface="Noto Sans"/>
              </a:rPr>
              <a:t>Every squad cuts a release every week; anything that can't be weekly is a platform bug to be retired.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98000" y="5969000"/>
            <a:ext cx="2413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D9D3C5"/>
                </a:solidFill>
                <a:latin typeface="Noto Sans Mono"/>
              </a:rPr>
              <a:t>OWNER · ENG DIRECTOR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D9D3C5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D9D3C5"/>
                </a:solidFill>
                <a:latin typeface="Noto Sans Mono"/>
              </a:rPr>
              <a:t>SLIDE 25 / 32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LAYOUT · KPI GRID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1397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1651000"/>
            <a:ext cx="1079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B1A33"/>
                </a:solidFill>
                <a:latin typeface="Noto Sans Mono"/>
              </a:rPr>
              <a:t>FIGURES AT A GLANCE</a:t>
            </a:r>
          </a:p>
        </p:txBody>
      </p:sp>
      <p:sp>
        <p:nvSpPr>
          <p:cNvPr id="6" name="feinschliff-title-title"/>
          <p:cNvSpPr txBox="1"/>
          <p:nvPr/>
        </p:nvSpPr>
        <p:spPr>
          <a:xfrm>
            <a:off x="635000" y="1905000"/>
            <a:ext cx="107950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spc="-27">
                <a:solidFill>
                  <a:srgbClr val="0B1A33"/>
                </a:solidFill>
                <a:latin typeface="Noto Sans"/>
              </a:rPr>
              <a:t>Headline numbers.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3429000"/>
            <a:ext cx="6350" cy="19050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000" y="3429000"/>
            <a:ext cx="27305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5000" y="5327650"/>
            <a:ext cx="27305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59150" y="3429000"/>
            <a:ext cx="6350" cy="19050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9000" y="3657600"/>
            <a:ext cx="15875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0" spc="-179">
                <a:solidFill>
                  <a:srgbClr val="0B1A33"/>
                </a:solidFill>
                <a:latin typeface="Noto Sans Light"/>
              </a:rPr>
              <a:t>62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40000" y="3975100"/>
            <a:ext cx="571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2D3A52"/>
                </a:solidFill>
                <a:latin typeface="Noto Sans Light"/>
              </a:rPr>
              <a:t>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9000" y="4597400"/>
            <a:ext cx="222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80">
                <a:solidFill>
                  <a:srgbClr val="2D3A52"/>
                </a:solidFill>
                <a:latin typeface="Noto Sans Mono"/>
              </a:rPr>
              <a:t>METRIC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9000" y="4800600"/>
            <a:ext cx="2222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A6F2E"/>
                </a:solidFill>
                <a:latin typeface="Noto Sans Mono"/>
              </a:rPr>
              <a:t>Caption 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65500" y="3429000"/>
            <a:ext cx="27305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65500" y="5327650"/>
            <a:ext cx="27305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9650" y="3429000"/>
            <a:ext cx="6350" cy="19050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9500" y="3657600"/>
            <a:ext cx="15875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0" spc="-179">
                <a:solidFill>
                  <a:srgbClr val="0B1A33"/>
                </a:solidFill>
                <a:latin typeface="Noto Sans Light"/>
              </a:rPr>
              <a:t>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0500" y="3975100"/>
            <a:ext cx="571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2D3A52"/>
                </a:solidFill>
                <a:latin typeface="Noto Sans Light"/>
              </a:rPr>
              <a:t> bn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9500" y="4597400"/>
            <a:ext cx="222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80">
                <a:solidFill>
                  <a:srgbClr val="2D3A52"/>
                </a:solidFill>
                <a:latin typeface="Noto Sans Mono"/>
              </a:rPr>
              <a:t>METRIC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9500" y="4800600"/>
            <a:ext cx="2222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A6F2E"/>
                </a:solidFill>
                <a:latin typeface="Noto Sans Mono"/>
              </a:rPr>
              <a:t>Caption 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0" y="3429000"/>
            <a:ext cx="27305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96000" y="5327650"/>
            <a:ext cx="27305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820150" y="3429000"/>
            <a:ext cx="6350" cy="19050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0000" y="3657600"/>
            <a:ext cx="15875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0" spc="-179">
                <a:solidFill>
                  <a:srgbClr val="0B1A33"/>
                </a:solidFill>
                <a:latin typeface="Noto Sans Light"/>
              </a:rPr>
              <a:t>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3975100"/>
            <a:ext cx="571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2D3A52"/>
                </a:solidFill>
                <a:latin typeface="Noto Sans Light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0000" y="4597400"/>
            <a:ext cx="222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80">
                <a:solidFill>
                  <a:srgbClr val="2D3A52"/>
                </a:solidFill>
                <a:latin typeface="Noto Sans Mono"/>
              </a:rPr>
              <a:t>METRIC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0000" y="4800600"/>
            <a:ext cx="2222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A6F2E"/>
                </a:solidFill>
                <a:latin typeface="Noto Sans Mono"/>
              </a:rPr>
              <a:t>Caption 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26500" y="3429000"/>
            <a:ext cx="27305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826500" y="5327650"/>
            <a:ext cx="27305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1550650" y="3429000"/>
            <a:ext cx="6350" cy="19050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80500" y="3657600"/>
            <a:ext cx="15875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0" spc="-179">
                <a:solidFill>
                  <a:srgbClr val="0B1A33"/>
                </a:solidFill>
                <a:latin typeface="Noto Sans Light"/>
              </a:rPr>
              <a:t>92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31500" y="3975100"/>
            <a:ext cx="5715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2D3A52"/>
                </a:solidFill>
                <a:latin typeface="Noto Sans Light"/>
              </a:rPr>
              <a:t>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80500" y="4597400"/>
            <a:ext cx="222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80">
                <a:solidFill>
                  <a:srgbClr val="2D3A52"/>
                </a:solidFill>
                <a:latin typeface="Noto Sans Mono"/>
              </a:rPr>
              <a:t>METRIC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80500" y="4800600"/>
            <a:ext cx="22225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A6F2E"/>
                </a:solidFill>
                <a:latin typeface="Noto Sans Mono"/>
              </a:rPr>
              <a:t>Caption 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SLIDE 7 / 32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LAYOUT · KPI + PHOTO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0" y="635000"/>
            <a:ext cx="5207000" cy="558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35000" y="1270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1524000"/>
            <a:ext cx="5461000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B1A33"/>
                </a:solidFill>
                <a:latin typeface="Noto Sans Mono"/>
              </a:rPr>
              <a:t>OUTCOMES</a:t>
            </a:r>
          </a:p>
        </p:txBody>
      </p:sp>
      <p:sp>
        <p:nvSpPr>
          <p:cNvPr id="7" name="feinschliff-title-title"/>
          <p:cNvSpPr txBox="1"/>
          <p:nvPr/>
        </p:nvSpPr>
        <p:spPr>
          <a:xfrm>
            <a:off x="635000" y="1778000"/>
            <a:ext cx="54610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spc="-27">
                <a:solidFill>
                  <a:srgbClr val="0B1A33"/>
                </a:solidFill>
                <a:latin typeface="Noto Sans"/>
              </a:rPr>
              <a:t>What measurement bought us.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" y="3048000"/>
            <a:ext cx="5461000" cy="254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" y="3175000"/>
            <a:ext cx="5461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0" spc="-179">
                <a:solidFill>
                  <a:srgbClr val="C9A24A"/>
                </a:solidFill>
                <a:latin typeface="Noto Sans Light"/>
              </a:rPr>
              <a:t>+47%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4000500"/>
            <a:ext cx="5461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80">
                <a:solidFill>
                  <a:srgbClr val="2D3A52"/>
                </a:solidFill>
                <a:latin typeface="Noto Sans Mono"/>
              </a:rPr>
              <a:t>FORECAST SKILL (1980 VS 2025)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000" y="4318000"/>
            <a:ext cx="5461000" cy="254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000" y="4445000"/>
            <a:ext cx="5461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0" spc="-179">
                <a:solidFill>
                  <a:srgbClr val="C9A24A"/>
                </a:solidFill>
                <a:latin typeface="Noto Sans Light"/>
              </a:rPr>
              <a:t>5 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5270500"/>
            <a:ext cx="5461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80">
                <a:solidFill>
                  <a:srgbClr val="2D3A52"/>
                </a:solidFill>
                <a:latin typeface="Noto Sans Mono"/>
              </a:rPr>
              <a:t>HURRICANE TRACK LEAD TIME GAINED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MAY 2026 · SHOWCASE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SLIDE 18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LAYOUT · LINE CHART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1143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1397000"/>
            <a:ext cx="1092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B1A33"/>
                </a:solidFill>
                <a:latin typeface="Noto Sans Mono"/>
              </a:rPr>
              <a:t>LAYOUT · LINE CHART</a:t>
            </a:r>
          </a:p>
        </p:txBody>
      </p:sp>
      <p:sp>
        <p:nvSpPr>
          <p:cNvPr id="6" name="feinschliff-title-title"/>
          <p:cNvSpPr txBox="1"/>
          <p:nvPr/>
        </p:nvSpPr>
        <p:spPr>
          <a:xfrm>
            <a:off x="635000" y="1651000"/>
            <a:ext cx="109220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spc="-27">
                <a:solidFill>
                  <a:srgbClr val="0B1A33"/>
                </a:solidFill>
                <a:latin typeface="Noto Sans"/>
              </a:rPr>
              <a:t>Headline takeaway from the trend over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921000"/>
            <a:ext cx="10922000" cy="2667000"/>
          </a:xfrm>
          <a:prstGeom prst="rect">
            <a:avLst/>
          </a:prstGeom>
          <a:solidFill>
            <a:srgbClr val="FAF8F3"/>
          </a:solidFill>
          <a:ln w="9525">
            <a:solidFill>
              <a:srgbClr val="D6D1C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000" y="5588000"/>
            <a:ext cx="10922000" cy="127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714500" y="2921000"/>
            <a:ext cx="8636000" cy="1555750"/>
          </a:xfrm>
          <a:custGeom>
            <a:avLst/>
            <a:gdLst/>
            <a:ahLst/>
            <a:cxnLst/>
            <a:rect l="l" t="t" r="r" b="b"/>
            <a:pathLst>
              <a:path w="8636000" h="1555750">
                <a:moveTo>
                  <a:pt x="0" y="1555750"/>
                </a:moveTo>
                <a:lnTo>
                  <a:pt x="2159000" y="1111250"/>
                </a:lnTo>
                <a:lnTo>
                  <a:pt x="4318000" y="666750"/>
                </a:lnTo>
                <a:lnTo>
                  <a:pt x="6477000" y="222250"/>
                </a:lnTo>
                <a:lnTo>
                  <a:pt x="8636000" y="0"/>
                </a:lnTo>
              </a:path>
            </a:pathLst>
          </a:custGeom>
          <a:noFill/>
          <a:ln w="6350">
            <a:solidFill>
              <a:srgbClr val="C9A24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714500" y="3365500"/>
            <a:ext cx="8636000" cy="889000"/>
          </a:xfrm>
          <a:custGeom>
            <a:avLst/>
            <a:gdLst/>
            <a:ahLst/>
            <a:cxnLst/>
            <a:rect l="l" t="t" r="r" b="b"/>
            <a:pathLst>
              <a:path w="8636000" h="889000">
                <a:moveTo>
                  <a:pt x="0" y="889000"/>
                </a:moveTo>
                <a:lnTo>
                  <a:pt x="2159000" y="889000"/>
                </a:lnTo>
                <a:lnTo>
                  <a:pt x="4318000" y="666750"/>
                </a:lnTo>
                <a:lnTo>
                  <a:pt x="6477000" y="222250"/>
                </a:lnTo>
                <a:lnTo>
                  <a:pt x="8636000" y="0"/>
                </a:lnTo>
              </a:path>
            </a:pathLst>
          </a:custGeom>
          <a:noFill/>
          <a:ln w="6350">
            <a:solidFill>
              <a:srgbClr val="2D3A5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000" y="5651500"/>
            <a:ext cx="2159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P1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94000" y="5651500"/>
            <a:ext cx="2159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3000" y="5651500"/>
            <a:ext cx="2159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P3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2000" y="5651500"/>
            <a:ext cx="2159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P4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8000" y="5651500"/>
            <a:ext cx="2159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P5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8000" y="1270000"/>
            <a:ext cx="101600" cy="1016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25000" y="1244600"/>
            <a:ext cx="1016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Series 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41000" y="1270000"/>
            <a:ext cx="101600" cy="101600"/>
          </a:xfrm>
          <a:prstGeom prst="rect">
            <a:avLst/>
          </a:prstGeom>
          <a:solidFill>
            <a:srgbClr val="2D3A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68000" y="1244600"/>
            <a:ext cx="1016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Series 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000" y="6159500"/>
            <a:ext cx="10922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Source · placeholder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SLIDE 27 / 32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NEXT STEPS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1143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1397000"/>
            <a:ext cx="10922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96">
                <a:solidFill>
                  <a:srgbClr val="2D3A52"/>
                </a:solidFill>
                <a:latin typeface="Noto Sans Mono"/>
              </a:rPr>
              <a:t>LAYOUT · NEXT-STEPS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651000"/>
            <a:ext cx="1092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spc="108">
                <a:solidFill>
                  <a:srgbClr val="C9A24A"/>
                </a:solidFill>
                <a:latin typeface="Noto Sans Mono"/>
              </a:rPr>
              <a:t>WHAT HAPPENS MONDAY</a:t>
            </a:r>
          </a:p>
        </p:txBody>
      </p:sp>
      <p:sp>
        <p:nvSpPr>
          <p:cNvPr id="7" name="feinschliff-title-act-title"/>
          <p:cNvSpPr txBox="1"/>
          <p:nvPr/>
        </p:nvSpPr>
        <p:spPr>
          <a:xfrm>
            <a:off x="635000" y="1905000"/>
            <a:ext cx="109220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0" spc="-56">
                <a:solidFill>
                  <a:srgbClr val="0B1A33"/>
                </a:solidFill>
                <a:latin typeface="Noto Sans"/>
              </a:rPr>
              <a:t>Five actions across the next 60 days.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" y="31750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" y="3263900"/>
            <a:ext cx="1651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C9A24A"/>
                </a:solidFill>
                <a:latin typeface="Noto Sans Medium"/>
              </a:rPr>
              <a:t>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13000" y="3289300"/>
            <a:ext cx="5969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License sprawl across all functions.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9000" y="3263900"/>
            <a:ext cx="3048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spc="112">
                <a:solidFill>
                  <a:srgbClr val="C9A24A"/>
                </a:solidFill>
                <a:latin typeface="Noto Sans Mono"/>
              </a:rPr>
              <a:t>FINANCE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9000" y="3429000"/>
            <a:ext cx="3048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CFO · COO · Week of 16 Sep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000" y="36195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000" y="3708400"/>
            <a:ext cx="1651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C9A24A"/>
                </a:solidFill>
                <a:latin typeface="Noto Sans Medium"/>
              </a:rPr>
              <a:t>Hire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13000" y="3733800"/>
            <a:ext cx="5969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Director of Customer Success (named-account model).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9000" y="3708400"/>
            <a:ext cx="3048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spc="112">
                <a:solidFill>
                  <a:srgbClr val="C9A24A"/>
                </a:solidFill>
                <a:latin typeface="Noto Sans Mono"/>
              </a:rPr>
              <a:t>PEOPLE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9000" y="3873500"/>
            <a:ext cx="3048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CRO · People · Offer by 2026-10-15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000" y="40640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000" y="4152900"/>
            <a:ext cx="1651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C9A24A"/>
                </a:solidFill>
                <a:latin typeface="Noto Sans Medium"/>
              </a:rPr>
              <a:t>Communicate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13000" y="4178300"/>
            <a:ext cx="5969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SKU sunset notice to affected customers.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9000" y="4152900"/>
            <a:ext cx="3048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spc="112">
                <a:solidFill>
                  <a:srgbClr val="C9A24A"/>
                </a:solidFill>
                <a:latin typeface="Noto Sans Mono"/>
              </a:rPr>
              <a:t>PRODUCT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9000" y="4318000"/>
            <a:ext cx="3048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PRODUCT · CS · By 2026-10-01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000" y="45085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000" y="4597400"/>
            <a:ext cx="1651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C9A24A"/>
                </a:solidFill>
                <a:latin typeface="Noto Sans Medium"/>
              </a:rPr>
              <a:t>Approve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13000" y="4622800"/>
            <a:ext cx="5969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Migration credit budget.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9000" y="4597400"/>
            <a:ext cx="3048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spc="112">
                <a:solidFill>
                  <a:srgbClr val="C9A24A"/>
                </a:solidFill>
                <a:latin typeface="Noto Sans Mono"/>
              </a:rPr>
              <a:t>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9000" y="4762500"/>
            <a:ext cx="3048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CFO · CEO · Board meeting 2026-10-22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5000" y="49530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000" y="5041900"/>
            <a:ext cx="1651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C9A24A"/>
                </a:solidFill>
                <a:latin typeface="Noto Sans Medium"/>
              </a:rPr>
              <a:t>Launch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13000" y="5067300"/>
            <a:ext cx="5969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Account-level QBR cadence with top 50.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9000" y="5041900"/>
            <a:ext cx="3048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spc="112">
                <a:solidFill>
                  <a:srgbClr val="C9A24A"/>
                </a:solidFill>
                <a:latin typeface="Noto Sans Mono"/>
              </a:rPr>
              <a:t>GTM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9000" y="5207000"/>
            <a:ext cx="3048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CS · CRO · First QBRs in Nov 2026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5000" y="62865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SLIDE 19 / 32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LAYOUT · PHOTO GRID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1143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1397000"/>
            <a:ext cx="10922000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B1A33"/>
                </a:solidFill>
                <a:latin typeface="Noto Sans Mono"/>
              </a:rPr>
              <a:t>SHOWCASE · 2026</a:t>
            </a:r>
          </a:p>
        </p:txBody>
      </p:sp>
      <p:sp>
        <p:nvSpPr>
          <p:cNvPr id="6" name="feinschliff-title-title"/>
          <p:cNvSpPr txBox="1"/>
          <p:nvPr/>
        </p:nvSpPr>
        <p:spPr>
          <a:xfrm>
            <a:off x="635000" y="1651000"/>
            <a:ext cx="10922000" cy="520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spc="-27">
                <a:solidFill>
                  <a:srgbClr val="0B1A33"/>
                </a:solidFill>
                <a:latin typeface="Noto Sans"/>
              </a:rPr>
              <a:t>Six places doing it right.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2286000"/>
            <a:ext cx="3556000" cy="1143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000" y="3479800"/>
            <a:ext cx="3556000" cy="234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Singapore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3746500"/>
            <a:ext cx="3556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NEWater closed-loop covers 60 % demand.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000" y="2286000"/>
            <a:ext cx="3556000" cy="1143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318000" y="3479800"/>
            <a:ext cx="3556000" cy="234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Windhoek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8000" y="3746500"/>
            <a:ext cx="3556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Potable reuse in operation since 1968.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2286000"/>
            <a:ext cx="3556000" cy="1143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01000" y="3479800"/>
            <a:ext cx="3556000" cy="234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Rotterdam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3746500"/>
            <a:ext cx="3556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Blue-green roofs halved flood peaks.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4076700"/>
            <a:ext cx="3556000" cy="1143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5000" y="5270500"/>
            <a:ext cx="3556000" cy="234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Rajasthan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" y="5537200"/>
            <a:ext cx="3556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Johad step-wells revived by communities.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000" y="4076700"/>
            <a:ext cx="3556000" cy="1143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318000" y="5270500"/>
            <a:ext cx="3556000" cy="234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Cape Town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8000" y="5537200"/>
            <a:ext cx="3556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Day Zero cut per-capita use 15 % durable.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4076700"/>
            <a:ext cx="3556000" cy="1143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001000" y="5270500"/>
            <a:ext cx="3556000" cy="234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Tokyo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5537200"/>
            <a:ext cx="3556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Acoustic leak detection: 98 % recovery.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5000" y="5854700"/>
            <a:ext cx="508000" cy="254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000" y="5918200"/>
            <a:ext cx="10922000" cy="2349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C9A24A"/>
                </a:solidFill>
                <a:latin typeface="Noto Sans Medium"/>
              </a:rPr>
              <a:t>Every working approach starts with measurement — scale follows.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MAY 2026 · SHOWCASE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SLIDE 26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LAYOUT · PHOTO-STRIP 4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1143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1397000"/>
            <a:ext cx="10922000" cy="139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B1A33"/>
                </a:solidFill>
                <a:latin typeface="Noto Sans Mono"/>
              </a:rPr>
              <a:t>FUTURES</a:t>
            </a:r>
          </a:p>
        </p:txBody>
      </p:sp>
      <p:sp>
        <p:nvSpPr>
          <p:cNvPr id="6" name="feinschliff-title-title"/>
          <p:cNvSpPr txBox="1"/>
          <p:nvPr/>
        </p:nvSpPr>
        <p:spPr>
          <a:xfrm>
            <a:off x="635000" y="1651000"/>
            <a:ext cx="109220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spc="-27">
                <a:solidFill>
                  <a:srgbClr val="0B1A33"/>
                </a:solidFill>
                <a:latin typeface="Noto Sans"/>
              </a:rPr>
              <a:t>Four water futures.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540000"/>
            <a:ext cx="2501900" cy="3810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000" y="2635250"/>
            <a:ext cx="23749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FAF8F3"/>
                </a:solidFill>
                <a:latin typeface="Noto Sans Medium"/>
              </a:rPr>
              <a:t>Drier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3022600"/>
            <a:ext cx="2501900" cy="787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Arid bands expand; aquifers deplete; crop belts shift poleward.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3937000"/>
            <a:ext cx="2501900" cy="2159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441700" y="2540000"/>
            <a:ext cx="2501900" cy="3810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8700" y="2635250"/>
            <a:ext cx="22479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FAF8F3"/>
                </a:solidFill>
                <a:latin typeface="Noto Sans Medium"/>
              </a:rPr>
              <a:t>Wetter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1700" y="3022600"/>
            <a:ext cx="2501900" cy="787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Monsoons amplify; mountain rivers run faster; floods concentrate.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1700" y="3937000"/>
            <a:ext cx="2501900" cy="21590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248400" y="2540000"/>
            <a:ext cx="2501900" cy="3810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75400" y="2635250"/>
            <a:ext cx="22479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FAF8F3"/>
                </a:solidFill>
                <a:latin typeface="Noto Sans Medium"/>
              </a:rPr>
              <a:t>Managed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3022600"/>
            <a:ext cx="2501900" cy="787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Engineered storage, treatment, reuse, ecosystem restoration.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00" y="3937000"/>
            <a:ext cx="2501900" cy="21590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9055100" y="2540000"/>
            <a:ext cx="2501900" cy="3810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2100" y="2635250"/>
            <a:ext cx="22479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FAF8F3"/>
                </a:solidFill>
                <a:latin typeface="Noto Sans Medium"/>
              </a:rPr>
              <a:t>Wild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5100" y="3022600"/>
            <a:ext cx="2501900" cy="787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Restored floodplains, reconnected rivers, beaver-built holding.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5100" y="3937000"/>
            <a:ext cx="2501900" cy="2159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MAY 2026 · SHOWCASE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SLIDE 29 /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LAYOUT · PROCESS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1143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1397000"/>
            <a:ext cx="1092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B1A33"/>
                </a:solidFill>
                <a:latin typeface="Noto Sans Mono"/>
              </a:rPr>
              <a:t>LAYOUT · PROCESS FLOW</a:t>
            </a:r>
          </a:p>
        </p:txBody>
      </p:sp>
      <p:sp>
        <p:nvSpPr>
          <p:cNvPr id="6" name="feinschliff-title-title"/>
          <p:cNvSpPr txBox="1"/>
          <p:nvPr/>
        </p:nvSpPr>
        <p:spPr>
          <a:xfrm>
            <a:off x="635000" y="1651000"/>
            <a:ext cx="109220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spc="-27">
                <a:solidFill>
                  <a:srgbClr val="0B1A33"/>
                </a:solidFill>
                <a:latin typeface="Noto Sans"/>
              </a:rPr>
              <a:t>Five stages, one highlighted as active.</a:t>
            </a:r>
          </a:p>
        </p:txBody>
      </p:sp>
      <p:sp>
        <p:nvSpPr>
          <p:cNvPr id="7" name="Chevron 6"/>
          <p:cNvSpPr/>
          <p:nvPr/>
        </p:nvSpPr>
        <p:spPr>
          <a:xfrm>
            <a:off x="508000" y="3048000"/>
            <a:ext cx="2286000" cy="2286000"/>
          </a:xfrm>
          <a:prstGeom prst="chevron">
            <a:avLst>
              <a:gd name="adj" fmla="val 15000"/>
            </a:avLst>
          </a:prstGeom>
          <a:solidFill>
            <a:srgbClr val="F4F1E8"/>
          </a:solidFill>
          <a:ln w="9525">
            <a:solidFill>
              <a:srgbClr val="D6D1C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Chevron 7"/>
          <p:cNvSpPr/>
          <p:nvPr/>
        </p:nvSpPr>
        <p:spPr>
          <a:xfrm>
            <a:off x="2451100" y="3048000"/>
            <a:ext cx="2286000" cy="2286000"/>
          </a:xfrm>
          <a:prstGeom prst="chevron">
            <a:avLst>
              <a:gd name="adj" fmla="val 15000"/>
            </a:avLst>
          </a:prstGeom>
          <a:solidFill>
            <a:srgbClr val="F4F1E8"/>
          </a:solidFill>
          <a:ln w="9525">
            <a:solidFill>
              <a:srgbClr val="D6D1C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Chevron 8"/>
          <p:cNvSpPr/>
          <p:nvPr/>
        </p:nvSpPr>
        <p:spPr>
          <a:xfrm>
            <a:off x="4394200" y="3048000"/>
            <a:ext cx="2286000" cy="2286000"/>
          </a:xfrm>
          <a:prstGeom prst="chevron">
            <a:avLst>
              <a:gd name="adj" fmla="val 15000"/>
            </a:avLst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Chevron 9"/>
          <p:cNvSpPr/>
          <p:nvPr/>
        </p:nvSpPr>
        <p:spPr>
          <a:xfrm>
            <a:off x="6337300" y="3048000"/>
            <a:ext cx="2286000" cy="2286000"/>
          </a:xfrm>
          <a:prstGeom prst="chevron">
            <a:avLst>
              <a:gd name="adj" fmla="val 15000"/>
            </a:avLst>
          </a:prstGeom>
          <a:solidFill>
            <a:srgbClr val="F4F1E8"/>
          </a:solidFill>
          <a:ln w="9525">
            <a:solidFill>
              <a:srgbClr val="D6D1C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Chevron 10"/>
          <p:cNvSpPr/>
          <p:nvPr/>
        </p:nvSpPr>
        <p:spPr>
          <a:xfrm>
            <a:off x="8280400" y="3048000"/>
            <a:ext cx="2286000" cy="2286000"/>
          </a:xfrm>
          <a:prstGeom prst="chevron">
            <a:avLst>
              <a:gd name="adj" fmla="val 15000"/>
            </a:avLst>
          </a:prstGeom>
          <a:solidFill>
            <a:srgbClr val="F4F1E8"/>
          </a:solidFill>
          <a:ln w="9525">
            <a:solidFill>
              <a:srgbClr val="D6D1C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500" y="3302000"/>
            <a:ext cx="139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C9A24A"/>
                </a:solidFill>
                <a:latin typeface="Noto Sans Mono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556000"/>
            <a:ext cx="1397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Stage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127500"/>
            <a:ext cx="13970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Description for stage 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95600" y="3302000"/>
            <a:ext cx="139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C9A24A"/>
                </a:solidFill>
                <a:latin typeface="Noto Sans Mono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95600" y="3556000"/>
            <a:ext cx="1397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Stage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95600" y="4127500"/>
            <a:ext cx="13970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Description for stage 2.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38700" y="3302000"/>
            <a:ext cx="139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0B1A33"/>
                </a:solidFill>
                <a:latin typeface="Noto Sans Mono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38700" y="3556000"/>
            <a:ext cx="1397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Stage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38700" y="4127500"/>
            <a:ext cx="13970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0B1A33"/>
                </a:solidFill>
                <a:latin typeface="Noto Sans"/>
              </a:rPr>
              <a:t>Description for stage 3.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1800" y="3302000"/>
            <a:ext cx="139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C9A24A"/>
                </a:solidFill>
                <a:latin typeface="Noto Sans Mono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1800" y="3556000"/>
            <a:ext cx="1397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Stage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81800" y="4127500"/>
            <a:ext cx="13970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Description for stage 4.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24900" y="3302000"/>
            <a:ext cx="139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C9A24A"/>
                </a:solidFill>
                <a:latin typeface="Noto Sans Mono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24900" y="3556000"/>
            <a:ext cx="1397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Stage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24900" y="4127500"/>
            <a:ext cx="13970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Description for stage 5.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SLIDE 21 / 32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LAYOUT · PYRAMID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1143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1397000"/>
            <a:ext cx="1092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B1A33"/>
                </a:solidFill>
                <a:latin typeface="Noto Sans Mono"/>
              </a:rPr>
              <a:t>LAYOUT · PYRAMID</a:t>
            </a:r>
          </a:p>
        </p:txBody>
      </p:sp>
      <p:sp>
        <p:nvSpPr>
          <p:cNvPr id="6" name="feinschliff-title-title"/>
          <p:cNvSpPr txBox="1"/>
          <p:nvPr/>
        </p:nvSpPr>
        <p:spPr>
          <a:xfrm>
            <a:off x="635000" y="1651000"/>
            <a:ext cx="10922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spc="-27">
                <a:solidFill>
                  <a:srgbClr val="0B1A33"/>
                </a:solidFill>
                <a:latin typeface="Noto Sans"/>
              </a:rPr>
              <a:t>Headline takeaway about the value hierarchy.</a:t>
            </a:r>
          </a:p>
        </p:txBody>
      </p:sp>
      <p:sp>
        <p:nvSpPr>
          <p:cNvPr id="7" name="Isosceles Triangle 6"/>
          <p:cNvSpPr/>
          <p:nvPr/>
        </p:nvSpPr>
        <p:spPr>
          <a:xfrm>
            <a:off x="2266950" y="2286000"/>
            <a:ext cx="1695450" cy="1079500"/>
          </a:xfrm>
          <a:prstGeom prst="triangle">
            <a:avLst/>
          </a:prstGeom>
          <a:solidFill>
            <a:srgbClr val="162A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rapezoid 7"/>
          <p:cNvSpPr/>
          <p:nvPr/>
        </p:nvSpPr>
        <p:spPr>
          <a:xfrm>
            <a:off x="1422400" y="3365500"/>
            <a:ext cx="3384550" cy="1079500"/>
          </a:xfrm>
          <a:prstGeom prst="trapezoid">
            <a:avLst>
              <a:gd name="adj" fmla="val 78430"/>
            </a:avLst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rapezoid 8"/>
          <p:cNvSpPr/>
          <p:nvPr/>
        </p:nvSpPr>
        <p:spPr>
          <a:xfrm>
            <a:off x="571500" y="4445000"/>
            <a:ext cx="5080000" cy="1079500"/>
          </a:xfrm>
          <a:prstGeom prst="trapezoid">
            <a:avLst>
              <a:gd name="adj" fmla="val 78430"/>
            </a:avLst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66950" y="3016250"/>
            <a:ext cx="169545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0ECE4"/>
                </a:solidFill>
                <a:latin typeface="Noto Sans"/>
              </a:rPr>
              <a:t>Apex line.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2400" y="3841750"/>
            <a:ext cx="338455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0B1A33"/>
                </a:solidFill>
                <a:latin typeface="Noto Sans"/>
              </a:rPr>
              <a:t>Middle line.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4921250"/>
            <a:ext cx="50165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0ECE4"/>
                </a:solidFill>
                <a:latin typeface="Noto Sans"/>
              </a:rPr>
              <a:t>Base line.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77000" y="2159000"/>
            <a:ext cx="5080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7000" y="2286000"/>
            <a:ext cx="4826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C9A24A"/>
                </a:solidFill>
                <a:latin typeface="Noto Sans Mono"/>
              </a:rPr>
              <a:t>TIER 03 · APEX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0" y="2540000"/>
            <a:ext cx="4826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Description of the top tier.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77000" y="3238500"/>
            <a:ext cx="5080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7000" y="3365500"/>
            <a:ext cx="4826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C9A24A"/>
                </a:solidFill>
                <a:latin typeface="Noto Sans Mono"/>
              </a:rPr>
              <a:t>TIER 02 · MIDDLE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7000" y="3619500"/>
            <a:ext cx="4826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Description of the middle tier.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77000" y="4318000"/>
            <a:ext cx="5080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7000" y="4445000"/>
            <a:ext cx="4826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C9A24A"/>
                </a:solidFill>
                <a:latin typeface="Noto Sans Mono"/>
              </a:rPr>
              <a:t>TIER 01 · FOUNDATION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7000" y="4699000"/>
            <a:ext cx="4826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Description of the base tier.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77000" y="5524500"/>
            <a:ext cx="5080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SLIDE 24 / 32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VOICE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2540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einschliff-title-quote"/>
          <p:cNvSpPr txBox="1"/>
          <p:nvPr/>
        </p:nvSpPr>
        <p:spPr>
          <a:xfrm>
            <a:off x="528320" y="2921000"/>
            <a:ext cx="8890000" cy="215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0" spc="-105">
                <a:solidFill>
                  <a:srgbClr val="0B1A33"/>
                </a:solidFill>
                <a:latin typeface="Noto Sans Light"/>
              </a:rPr>
              <a:t>“A short, memorable line that earns its full slide.”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5334000"/>
            <a:ext cx="8890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D3A52"/>
                </a:solidFill>
                <a:latin typeface="Noto Sans Mono"/>
              </a:rPr>
              <a:t>ATTRIBUTION · PLACEHOLDER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SLIDE 15 / 32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RECOMMENDATION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1143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1397000"/>
            <a:ext cx="10922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96">
                <a:solidFill>
                  <a:srgbClr val="2D3A52"/>
                </a:solidFill>
                <a:latin typeface="Noto Sans Mono"/>
              </a:rPr>
              <a:t>LAYOUT · RECOMMENDATION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651000"/>
            <a:ext cx="1092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spc="108">
                <a:solidFill>
                  <a:srgbClr val="C9A24A"/>
                </a:solidFill>
                <a:latin typeface="Noto Sans Mono"/>
              </a:rPr>
              <a:t>THREE MOVES TO CLOSE THE GAP</a:t>
            </a:r>
          </a:p>
        </p:txBody>
      </p:sp>
      <p:sp>
        <p:nvSpPr>
          <p:cNvPr id="7" name="feinschliff-title-act-title"/>
          <p:cNvSpPr txBox="1"/>
          <p:nvPr/>
        </p:nvSpPr>
        <p:spPr>
          <a:xfrm>
            <a:off x="635000" y="1905000"/>
            <a:ext cx="109220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0" spc="-56">
                <a:solidFill>
                  <a:srgbClr val="0B1A33"/>
                </a:solidFill>
                <a:latin typeface="Noto Sans"/>
              </a:rPr>
              <a:t>Close the 12-point margin gap with three focused bets.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" y="3175000"/>
            <a:ext cx="508000" cy="254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" y="3429000"/>
            <a:ext cx="3429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C9A24A"/>
                </a:solidFill>
                <a:latin typeface="Noto Sans Mono"/>
              </a:rPr>
              <a:t>MOVE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3683000"/>
            <a:ext cx="3429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Consolidate tooling 30%.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0705" y="4572000"/>
            <a:ext cx="3429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• Audit license sprawl across all functions.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0705" y="4775200"/>
            <a:ext cx="3429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• Pick one platform per category.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0705" y="4978400"/>
            <a:ext cx="3429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• Renegotiate top-10 vendor contracts.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5842000"/>
            <a:ext cx="3429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C9A24A"/>
                </a:solidFill>
                <a:latin typeface="Noto Sans Medium"/>
              </a:rPr>
              <a:t>+$2.1M ARR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000" y="6134100"/>
            <a:ext cx="3429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FINANCE · CTO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3175000"/>
            <a:ext cx="508000" cy="254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3429000"/>
            <a:ext cx="3429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C9A24A"/>
                </a:solidFill>
                <a:latin typeface="Noto Sans Mono"/>
              </a:rPr>
              <a:t>MOVE 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683000"/>
            <a:ext cx="3429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Re-onboard top 50 accounts.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97705" y="4572000"/>
            <a:ext cx="3429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• Assign named CS lead per account.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97705" y="4775200"/>
            <a:ext cx="3429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• Quarterly business reviews on cadence.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7705" y="4978400"/>
            <a:ext cx="3429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• Co-built roadmap for top 10.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5842000"/>
            <a:ext cx="3429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C9A24A"/>
                </a:solidFill>
                <a:latin typeface="Noto Sans Medium"/>
              </a:rPr>
              <a:t>−5% churn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134100"/>
            <a:ext cx="3429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CS · CRO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09000" y="3175000"/>
            <a:ext cx="508000" cy="254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09000" y="3429000"/>
            <a:ext cx="3429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C9A24A"/>
                </a:solidFill>
                <a:latin typeface="Noto Sans Mono"/>
              </a:rPr>
              <a:t>MOVE 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9000" y="3683000"/>
            <a:ext cx="3429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Sunset three weak SKUs.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34705" y="4572000"/>
            <a:ext cx="3429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• Migrate affected customers to flagship.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34705" y="4775200"/>
            <a:ext cx="3429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• Refund plus 12-month flagship credit.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4705" y="4978400"/>
            <a:ext cx="3429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• 60-day sunset notice.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9000" y="5842000"/>
            <a:ext cx="3429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C9A24A"/>
                </a:solidFill>
                <a:latin typeface="Noto Sans Medium"/>
              </a:rPr>
              <a:t>+$0.8M margin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9000" y="6134100"/>
            <a:ext cx="3429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PRODUCT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SLIDE 23 /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RISK MATRIX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1143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1397000"/>
            <a:ext cx="10922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96">
                <a:solidFill>
                  <a:srgbClr val="2D3A52"/>
                </a:solidFill>
                <a:latin typeface="Noto Sans Mono"/>
              </a:rPr>
              <a:t>LAYOUT · RISK-MATRIX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651000"/>
            <a:ext cx="1092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spc="108">
                <a:solidFill>
                  <a:srgbClr val="C9A24A"/>
                </a:solidFill>
                <a:latin typeface="Noto Sans Mono"/>
              </a:rPr>
              <a:t>WHERE THE EXPOSURE SITS</a:t>
            </a:r>
          </a:p>
        </p:txBody>
      </p:sp>
      <p:sp>
        <p:nvSpPr>
          <p:cNvPr id="7" name="feinschliff-title-act-title"/>
          <p:cNvSpPr txBox="1"/>
          <p:nvPr/>
        </p:nvSpPr>
        <p:spPr>
          <a:xfrm>
            <a:off x="635000" y="1905000"/>
            <a:ext cx="1092200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0" spc="-56">
                <a:solidFill>
                  <a:srgbClr val="0B1A33"/>
                </a:solidFill>
                <a:latin typeface="Noto Sans"/>
              </a:rPr>
              <a:t>Two high-severity risks dominate — both mitigated.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" y="4191000"/>
            <a:ext cx="1905000" cy="1905000"/>
          </a:xfrm>
          <a:prstGeom prst="rect">
            <a:avLst/>
          </a:prstGeom>
          <a:solidFill>
            <a:srgbClr val="3F85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40000" y="2921000"/>
            <a:ext cx="1270000" cy="1270000"/>
          </a:xfrm>
          <a:prstGeom prst="rect">
            <a:avLst/>
          </a:prstGeom>
          <a:solidFill>
            <a:srgbClr val="A844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000" y="2921000"/>
            <a:ext cx="1905000" cy="12700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40000" y="4191000"/>
            <a:ext cx="1270000" cy="19050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000" y="2921000"/>
            <a:ext cx="3175000" cy="127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000" y="6083300"/>
            <a:ext cx="3175000" cy="127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000" y="2921000"/>
            <a:ext cx="12700" cy="31750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97300" y="2921000"/>
            <a:ext cx="12700" cy="31750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270000" y="2921000"/>
            <a:ext cx="6350" cy="31750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905000" y="2921000"/>
            <a:ext cx="6350" cy="31750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540000" y="2921000"/>
            <a:ext cx="6350" cy="31750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175000" y="2921000"/>
            <a:ext cx="6350" cy="31750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5000" y="3556000"/>
            <a:ext cx="3175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000" y="4191000"/>
            <a:ext cx="3175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000" y="4826000"/>
            <a:ext cx="3175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5000" y="5461000"/>
            <a:ext cx="3175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000" y="6159500"/>
            <a:ext cx="635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spc="112">
                <a:solidFill>
                  <a:srgbClr val="2D3A52"/>
                </a:solidFill>
                <a:latin typeface="Noto Sans Mono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70000" y="6159500"/>
            <a:ext cx="635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spc="112">
                <a:solidFill>
                  <a:srgbClr val="2D3A52"/>
                </a:solidFill>
                <a:latin typeface="Noto Sans Mono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05000" y="6159500"/>
            <a:ext cx="635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spc="112">
                <a:solidFill>
                  <a:srgbClr val="2D3A52"/>
                </a:solidFill>
                <a:latin typeface="Noto Sans Mono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40000" y="6159500"/>
            <a:ext cx="635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spc="112">
                <a:solidFill>
                  <a:srgbClr val="2D3A52"/>
                </a:solidFill>
                <a:latin typeface="Noto Sans Mono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75000" y="6159500"/>
            <a:ext cx="635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spc="112">
                <a:solidFill>
                  <a:srgbClr val="2D3A52"/>
                </a:solidFill>
                <a:latin typeface="Noto Sans Mono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4000" y="3175000"/>
            <a:ext cx="3175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spc="112">
                <a:solidFill>
                  <a:srgbClr val="2D3A52"/>
                </a:solidFill>
                <a:latin typeface="Noto Sans Mono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4000" y="3810000"/>
            <a:ext cx="3175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spc="112">
                <a:solidFill>
                  <a:srgbClr val="2D3A52"/>
                </a:solidFill>
                <a:latin typeface="Noto Sans Mono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4000" y="4445000"/>
            <a:ext cx="3175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spc="112">
                <a:solidFill>
                  <a:srgbClr val="2D3A52"/>
                </a:solidFill>
                <a:latin typeface="Noto Sans Mono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4000" y="5080000"/>
            <a:ext cx="3175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spc="112">
                <a:solidFill>
                  <a:srgbClr val="2D3A52"/>
                </a:solidFill>
                <a:latin typeface="Noto Sans Mono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4000" y="5715000"/>
            <a:ext cx="3175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spc="112">
                <a:solidFill>
                  <a:srgbClr val="2D3A52"/>
                </a:solidFill>
                <a:latin typeface="Noto Sans Mono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000" y="2603500"/>
            <a:ext cx="3175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96">
                <a:solidFill>
                  <a:srgbClr val="2D3A52"/>
                </a:solidFill>
                <a:latin typeface="Noto Sans Mono"/>
              </a:rPr>
              <a:t>IMPACT (Y) × PROBABILITY (X) — 1 LOW → 5 HIGH</a:t>
            </a:r>
          </a:p>
        </p:txBody>
      </p:sp>
      <p:sp>
        <p:nvSpPr>
          <p:cNvPr id="35" name="Oval 34"/>
          <p:cNvSpPr/>
          <p:nvPr/>
        </p:nvSpPr>
        <p:spPr>
          <a:xfrm>
            <a:off x="2032000" y="3683000"/>
            <a:ext cx="381000" cy="381000"/>
          </a:xfrm>
          <a:prstGeom prst="ellipse">
            <a:avLst/>
          </a:prstGeom>
          <a:solidFill>
            <a:srgbClr val="C9A24A"/>
          </a:solidFill>
          <a:ln w="6350">
            <a:solidFill>
              <a:srgbClr val="FAF8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032000" y="3683000"/>
            <a:ext cx="3810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spc="-19">
                <a:solidFill>
                  <a:srgbClr val="FAF8F3"/>
                </a:solidFill>
                <a:latin typeface="Noto Sans Medium"/>
              </a:rPr>
              <a:t>1</a:t>
            </a:r>
          </a:p>
        </p:txBody>
      </p:sp>
      <p:sp>
        <p:nvSpPr>
          <p:cNvPr id="37" name="Oval 36"/>
          <p:cNvSpPr/>
          <p:nvPr/>
        </p:nvSpPr>
        <p:spPr>
          <a:xfrm>
            <a:off x="1397000" y="3048000"/>
            <a:ext cx="381000" cy="381000"/>
          </a:xfrm>
          <a:prstGeom prst="ellipse">
            <a:avLst/>
          </a:prstGeom>
          <a:solidFill>
            <a:srgbClr val="A8442A"/>
          </a:solidFill>
          <a:ln w="6350">
            <a:solidFill>
              <a:srgbClr val="FAF8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97000" y="3048000"/>
            <a:ext cx="3810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spc="-19">
                <a:solidFill>
                  <a:srgbClr val="FAF8F3"/>
                </a:solidFill>
                <a:latin typeface="Noto Sans Medium"/>
              </a:rPr>
              <a:t>2</a:t>
            </a:r>
          </a:p>
        </p:txBody>
      </p:sp>
      <p:sp>
        <p:nvSpPr>
          <p:cNvPr id="39" name="Oval 38"/>
          <p:cNvSpPr/>
          <p:nvPr/>
        </p:nvSpPr>
        <p:spPr>
          <a:xfrm>
            <a:off x="2032000" y="4318000"/>
            <a:ext cx="381000" cy="381000"/>
          </a:xfrm>
          <a:prstGeom prst="ellipse">
            <a:avLst/>
          </a:prstGeom>
          <a:solidFill>
            <a:srgbClr val="C9A24A"/>
          </a:solidFill>
          <a:ln w="6350">
            <a:solidFill>
              <a:srgbClr val="FAF8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032000" y="4318000"/>
            <a:ext cx="3810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spc="-19">
                <a:solidFill>
                  <a:srgbClr val="FAF8F3"/>
                </a:solidFill>
                <a:latin typeface="Noto Sans Medium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2667000" y="4953000"/>
            <a:ext cx="381000" cy="381000"/>
          </a:xfrm>
          <a:prstGeom prst="ellipse">
            <a:avLst/>
          </a:prstGeom>
          <a:solidFill>
            <a:srgbClr val="C9A24A"/>
          </a:solidFill>
          <a:ln w="6350">
            <a:solidFill>
              <a:srgbClr val="FAF8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667000" y="4953000"/>
            <a:ext cx="3810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spc="-19">
                <a:solidFill>
                  <a:srgbClr val="FAF8F3"/>
                </a:solidFill>
                <a:latin typeface="Noto Sans Medium"/>
              </a:rPr>
              <a:t>4</a:t>
            </a:r>
          </a:p>
        </p:txBody>
      </p:sp>
      <p:sp>
        <p:nvSpPr>
          <p:cNvPr id="43" name="Oval 42"/>
          <p:cNvSpPr/>
          <p:nvPr/>
        </p:nvSpPr>
        <p:spPr>
          <a:xfrm>
            <a:off x="1397000" y="4318000"/>
            <a:ext cx="381000" cy="381000"/>
          </a:xfrm>
          <a:prstGeom prst="ellipse">
            <a:avLst/>
          </a:prstGeom>
          <a:solidFill>
            <a:srgbClr val="3F8553"/>
          </a:solidFill>
          <a:ln w="6350">
            <a:solidFill>
              <a:srgbClr val="FAF8F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397000" y="4318000"/>
            <a:ext cx="3810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spc="-19">
                <a:solidFill>
                  <a:srgbClr val="FAF8F3"/>
                </a:solidFill>
                <a:latin typeface="Noto Sans Medium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45000" y="2921000"/>
            <a:ext cx="7112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96">
                <a:solidFill>
                  <a:srgbClr val="2D3A52"/>
                </a:solidFill>
                <a:latin typeface="Noto Sans Mono"/>
              </a:rPr>
              <a:t>RISKS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45000" y="3111500"/>
            <a:ext cx="7112000" cy="127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445000" y="3238500"/>
            <a:ext cx="203200" cy="203200"/>
          </a:xfrm>
          <a:prstGeom prst="ellipse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45000" y="3238500"/>
            <a:ext cx="203200" cy="20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spc="112">
                <a:solidFill>
                  <a:srgbClr val="FAF8F3"/>
                </a:solidFill>
                <a:latin typeface="Noto Sans Mono"/>
              </a:rP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62500" y="3238500"/>
            <a:ext cx="6794500" cy="20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Vendor renegotiation fails.</a:t>
            </a:r>
          </a:p>
        </p:txBody>
      </p:sp>
      <p:sp>
        <p:nvSpPr>
          <p:cNvPr id="50" name="Oval 49"/>
          <p:cNvSpPr/>
          <p:nvPr/>
        </p:nvSpPr>
        <p:spPr>
          <a:xfrm>
            <a:off x="4445000" y="3556000"/>
            <a:ext cx="203200" cy="203200"/>
          </a:xfrm>
          <a:prstGeom prst="ellipse">
            <a:avLst/>
          </a:prstGeom>
          <a:solidFill>
            <a:srgbClr val="A844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45000" y="3556000"/>
            <a:ext cx="203200" cy="20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spc="112">
                <a:solidFill>
                  <a:srgbClr val="FAF8F3"/>
                </a:solidFill>
                <a:latin typeface="Noto Sans Mono"/>
              </a:rP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62500" y="3556000"/>
            <a:ext cx="6794500" cy="20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Top-five customer churn during sunset.</a:t>
            </a:r>
          </a:p>
        </p:txBody>
      </p:sp>
      <p:sp>
        <p:nvSpPr>
          <p:cNvPr id="53" name="Oval 52"/>
          <p:cNvSpPr/>
          <p:nvPr/>
        </p:nvSpPr>
        <p:spPr>
          <a:xfrm>
            <a:off x="4445000" y="3873500"/>
            <a:ext cx="203200" cy="203200"/>
          </a:xfrm>
          <a:prstGeom prst="ellipse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445000" y="3873500"/>
            <a:ext cx="203200" cy="20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spc="112">
                <a:solidFill>
                  <a:srgbClr val="FAF8F3"/>
                </a:solidFill>
                <a:latin typeface="Noto Sans Mono"/>
              </a:rPr>
              <a:t>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62500" y="3873500"/>
            <a:ext cx="6794500" cy="20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Director-CS hire slips Q4.</a:t>
            </a:r>
          </a:p>
        </p:txBody>
      </p:sp>
      <p:sp>
        <p:nvSpPr>
          <p:cNvPr id="56" name="Oval 55"/>
          <p:cNvSpPr/>
          <p:nvPr/>
        </p:nvSpPr>
        <p:spPr>
          <a:xfrm>
            <a:off x="4445000" y="4191000"/>
            <a:ext cx="203200" cy="203200"/>
          </a:xfrm>
          <a:prstGeom prst="ellipse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445000" y="4191000"/>
            <a:ext cx="203200" cy="20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spc="112">
                <a:solidFill>
                  <a:srgbClr val="FAF8F3"/>
                </a:solidFill>
                <a:latin typeface="Noto Sans Mono"/>
              </a:rPr>
              <a:t>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62500" y="4191000"/>
            <a:ext cx="6794500" cy="20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Analytics consolidation overruns.</a:t>
            </a:r>
          </a:p>
        </p:txBody>
      </p:sp>
      <p:sp>
        <p:nvSpPr>
          <p:cNvPr id="59" name="Oval 58"/>
          <p:cNvSpPr/>
          <p:nvPr/>
        </p:nvSpPr>
        <p:spPr>
          <a:xfrm>
            <a:off x="4445000" y="4508500"/>
            <a:ext cx="203200" cy="203200"/>
          </a:xfrm>
          <a:prstGeom prst="ellipse">
            <a:avLst/>
          </a:prstGeom>
          <a:solidFill>
            <a:srgbClr val="3F85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445000" y="4508500"/>
            <a:ext cx="203200" cy="20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spc="112">
                <a:solidFill>
                  <a:srgbClr val="FAF8F3"/>
                </a:solidFill>
                <a:latin typeface="Noto Sans Mono"/>
              </a:rP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762500" y="4508500"/>
            <a:ext cx="6794500" cy="20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Board pushback on credit budget.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SLIDE 24 / 32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RISK REGISTER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1143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1397000"/>
            <a:ext cx="10922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96">
                <a:solidFill>
                  <a:srgbClr val="2D3A52"/>
                </a:solidFill>
                <a:latin typeface="Noto Sans Mono"/>
              </a:rPr>
              <a:t>LAYOUT · RISK-REGISTER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651000"/>
            <a:ext cx="1092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spc="108">
                <a:solidFill>
                  <a:srgbClr val="C9A24A"/>
                </a:solidFill>
                <a:latin typeface="Noto Sans Mono"/>
              </a:rPr>
              <a:t>WHAT COULD DERAIL THE PLAN</a:t>
            </a:r>
          </a:p>
        </p:txBody>
      </p:sp>
      <p:sp>
        <p:nvSpPr>
          <p:cNvPr id="7" name="feinschliff-title-act-title"/>
          <p:cNvSpPr txBox="1"/>
          <p:nvPr/>
        </p:nvSpPr>
        <p:spPr>
          <a:xfrm>
            <a:off x="635000" y="1905000"/>
            <a:ext cx="109220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0" spc="-56">
                <a:solidFill>
                  <a:srgbClr val="0B1A33"/>
                </a:solidFill>
                <a:latin typeface="Noto Sans"/>
              </a:rPr>
              <a:t>Six material risks, four mitigations active.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" y="2921000"/>
            <a:ext cx="10922000" cy="127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" y="2984500"/>
            <a:ext cx="381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#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984500"/>
            <a:ext cx="3429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9000" y="2984500"/>
            <a:ext cx="381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07000" y="2984500"/>
            <a:ext cx="381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0" y="2984500"/>
            <a:ext cx="1016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SEVERITY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2984500"/>
            <a:ext cx="381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MITIGATION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0" y="2984500"/>
            <a:ext cx="762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000" y="31750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000" y="3302000"/>
            <a:ext cx="381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302000"/>
            <a:ext cx="342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Vendor renegotiation fails.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99000" y="3302000"/>
            <a:ext cx="381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07000" y="3302000"/>
            <a:ext cx="381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15000" y="3238500"/>
            <a:ext cx="889000" cy="2540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42000" y="3263900"/>
            <a:ext cx="762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FAF8F3"/>
                </a:solidFill>
                <a:latin typeface="Noto Sans"/>
              </a:rPr>
              <a:t>medium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3302000"/>
            <a:ext cx="3810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Parallel RFP with three alternates in flight.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95000" y="33020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CFO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5000" y="36195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000" y="3746500"/>
            <a:ext cx="381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3746500"/>
            <a:ext cx="342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Top-five customer churn during sunset.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9000" y="3746500"/>
            <a:ext cx="381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07000" y="3746500"/>
            <a:ext cx="381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715000" y="3683000"/>
            <a:ext cx="889000" cy="254000"/>
          </a:xfrm>
          <a:prstGeom prst="rect">
            <a:avLst/>
          </a:prstGeom>
          <a:solidFill>
            <a:srgbClr val="A844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42000" y="3708400"/>
            <a:ext cx="762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FAF8F3"/>
                </a:solidFill>
                <a:latin typeface="Noto Sans"/>
              </a:rPr>
              <a:t>high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3746500"/>
            <a:ext cx="3810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Named-CS coverage plus 12-month flagship credit.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95000" y="37465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CRO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5000" y="40640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000" y="4191000"/>
            <a:ext cx="381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4191000"/>
            <a:ext cx="342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Director-CS hire slips Q4.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99000" y="4191000"/>
            <a:ext cx="381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07000" y="4191000"/>
            <a:ext cx="381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715000" y="4127500"/>
            <a:ext cx="889000" cy="2540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42000" y="4152900"/>
            <a:ext cx="762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FAF8F3"/>
                </a:solidFill>
                <a:latin typeface="Noto Sans"/>
              </a:rPr>
              <a:t>medium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4191000"/>
            <a:ext cx="3810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Backup interim from internal promotion list.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95000" y="41910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People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5000" y="45085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5000" y="4635500"/>
            <a:ext cx="381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3000" y="4635500"/>
            <a:ext cx="342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Analytics consolidation overruns.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99000" y="4635500"/>
            <a:ext cx="381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07000" y="4635500"/>
            <a:ext cx="381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715000" y="4572000"/>
            <a:ext cx="889000" cy="2540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842000" y="4597400"/>
            <a:ext cx="762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FAF8F3"/>
                </a:solidFill>
                <a:latin typeface="Noto Sans"/>
              </a:rPr>
              <a:t>medium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0" y="4635500"/>
            <a:ext cx="3810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Phased migration with 30-day rollback window.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95000" y="46355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Data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5000" y="49530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5000" y="5080000"/>
            <a:ext cx="381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3000" y="5080000"/>
            <a:ext cx="3429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Board pushes back on credit budget.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99000" y="5080000"/>
            <a:ext cx="381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207000" y="5080000"/>
            <a:ext cx="381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715000" y="5016500"/>
            <a:ext cx="889000" cy="254000"/>
          </a:xfrm>
          <a:prstGeom prst="rect">
            <a:avLst/>
          </a:prstGeom>
          <a:solidFill>
            <a:srgbClr val="3F85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842000" y="5041900"/>
            <a:ext cx="762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FAF8F3"/>
                </a:solidFill>
                <a:latin typeface="Noto Sans"/>
              </a:rPr>
              <a:t>low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0" y="5080000"/>
            <a:ext cx="3810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Pre-aligned with audit committee chair.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95000" y="5080000"/>
            <a:ext cx="76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CEO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SLIDE 25 / 32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1143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1397000"/>
            <a:ext cx="10922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96">
                <a:solidFill>
                  <a:srgbClr val="2D3A52"/>
                </a:solidFill>
                <a:latin typeface="Noto Sans Mono"/>
              </a:rPr>
              <a:t>LAYOUT ·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651000"/>
            <a:ext cx="1092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spc="108">
                <a:solidFill>
                  <a:srgbClr val="C9A24A"/>
                </a:solidFill>
                <a:latin typeface="Noto Sans Mono"/>
              </a:rPr>
              <a:t>EIGHTEEN-MONTH PLAN</a:t>
            </a:r>
          </a:p>
        </p:txBody>
      </p:sp>
      <p:sp>
        <p:nvSpPr>
          <p:cNvPr id="7" name="feinschliff-title-act-title"/>
          <p:cNvSpPr txBox="1"/>
          <p:nvPr/>
        </p:nvSpPr>
        <p:spPr>
          <a:xfrm>
            <a:off x="635000" y="1905000"/>
            <a:ext cx="109220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0" spc="-56">
                <a:solidFill>
                  <a:srgbClr val="0B1A33"/>
                </a:solidFill>
                <a:latin typeface="Noto Sans"/>
              </a:rPr>
              <a:t>Three workstreams converge on Q4-2027 GA.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2794000"/>
            <a:ext cx="10922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● Done ● In progress ● Next · Skip</a:t>
            </a:r>
          </a:p>
        </p:txBody>
      </p:sp>
      <p:sp>
        <p:nvSpPr>
          <p:cNvPr id="9" name="Diamond 8"/>
          <p:cNvSpPr/>
          <p:nvPr/>
        </p:nvSpPr>
        <p:spPr>
          <a:xfrm>
            <a:off x="5099050" y="2819400"/>
            <a:ext cx="152400" cy="152400"/>
          </a:xfrm>
          <a:prstGeom prst="diamond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13250" y="3009900"/>
            <a:ext cx="1524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spc="112">
                <a:solidFill>
                  <a:srgbClr val="C9A24A"/>
                </a:solidFill>
                <a:latin typeface="Noto Sans Mono"/>
              </a:rPr>
              <a:t>FIRST PAYING TENANT</a:t>
            </a:r>
          </a:p>
        </p:txBody>
      </p:sp>
      <p:sp>
        <p:nvSpPr>
          <p:cNvPr id="11" name="Diamond 10"/>
          <p:cNvSpPr/>
          <p:nvPr/>
        </p:nvSpPr>
        <p:spPr>
          <a:xfrm>
            <a:off x="8782050" y="2819400"/>
            <a:ext cx="152400" cy="152400"/>
          </a:xfrm>
          <a:prstGeom prst="diamond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6250" y="3009900"/>
            <a:ext cx="1524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spc="112">
                <a:solidFill>
                  <a:srgbClr val="C9A24A"/>
                </a:solidFill>
                <a:latin typeface="Noto Sans Mono"/>
              </a:rPr>
              <a:t>GA LAUNCH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13000" y="3302000"/>
            <a:ext cx="1841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Q4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4500" y="3302000"/>
            <a:ext cx="1841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Q1 2027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3302000"/>
            <a:ext cx="1841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Q2 2027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7500" y="3302000"/>
            <a:ext cx="1841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Q3 2027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9000" y="3302000"/>
            <a:ext cx="1841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Q4 2027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000" y="3556000"/>
            <a:ext cx="10922000" cy="127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49500" y="3556000"/>
            <a:ext cx="6350" cy="26670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91000" y="3556000"/>
            <a:ext cx="6350" cy="26670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32500" y="3556000"/>
            <a:ext cx="6350" cy="26670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874000" y="3556000"/>
            <a:ext cx="6350" cy="26670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15500" y="3556000"/>
            <a:ext cx="6350" cy="26670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557000" y="3556000"/>
            <a:ext cx="6350" cy="26670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5000" y="43180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000" y="3810000"/>
            <a:ext cx="1651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C9A24A"/>
                </a:solidFill>
                <a:latin typeface="Noto Sans Medium"/>
              </a:rPr>
              <a:t>Platform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000" y="4089400"/>
            <a:ext cx="1651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ENGINEERING · TEAM 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400300" y="3810000"/>
            <a:ext cx="1739900" cy="406400"/>
          </a:xfrm>
          <a:prstGeom prst="rect">
            <a:avLst/>
          </a:prstGeom>
          <a:solidFill>
            <a:srgbClr val="3F85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00300" y="3911600"/>
            <a:ext cx="17399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AF8F3"/>
                </a:solidFill>
                <a:latin typeface="Noto Sans"/>
              </a:rPr>
              <a:t>Foundations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41800" y="3810000"/>
            <a:ext cx="1739900" cy="4064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41800" y="3911600"/>
            <a:ext cx="17399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AF8F3"/>
                </a:solidFill>
                <a:latin typeface="Noto Sans"/>
              </a:rPr>
              <a:t>Multi-tenancy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83300" y="3810000"/>
            <a:ext cx="1739900" cy="406400"/>
          </a:xfrm>
          <a:prstGeom prst="rect">
            <a:avLst/>
          </a:prstGeom>
          <a:solidFill>
            <a:srgbClr val="5A64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83300" y="3911600"/>
            <a:ext cx="17399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AF8F3"/>
                </a:solidFill>
                <a:latin typeface="Noto Sans"/>
              </a:rPr>
              <a:t>SSO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24800" y="3810000"/>
            <a:ext cx="1739900" cy="406400"/>
          </a:xfrm>
          <a:prstGeom prst="rect">
            <a:avLst/>
          </a:prstGeom>
          <a:solidFill>
            <a:srgbClr val="5A64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24800" y="3911600"/>
            <a:ext cx="17399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AF8F3"/>
                </a:solidFill>
                <a:latin typeface="Noto Sans"/>
              </a:rPr>
              <a:t>Audit log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766300" y="3810000"/>
            <a:ext cx="1739900" cy="4064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66300" y="3911600"/>
            <a:ext cx="17399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AF8F3"/>
                </a:solidFill>
                <a:latin typeface="Noto Sans"/>
              </a:rPr>
              <a:t/>
            </a:r>
          </a:p>
        </p:txBody>
      </p:sp>
      <p:sp>
        <p:nvSpPr>
          <p:cNvPr id="38" name="Rectangle 37"/>
          <p:cNvSpPr/>
          <p:nvPr/>
        </p:nvSpPr>
        <p:spPr>
          <a:xfrm>
            <a:off x="635000" y="49530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5000" y="4445000"/>
            <a:ext cx="1651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C9A24A"/>
                </a:solidFill>
                <a:latin typeface="Noto Sans Medium"/>
              </a:rPr>
              <a:t>Product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000" y="4724400"/>
            <a:ext cx="1651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PRODUCT · TEAM B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400300" y="4445000"/>
            <a:ext cx="1739900" cy="4064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00300" y="4546600"/>
            <a:ext cx="17399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AF8F3"/>
                </a:solidFill>
                <a:latin typeface="Noto Sans"/>
              </a:rPr>
              <a:t/>
            </a:r>
          </a:p>
        </p:txBody>
      </p:sp>
      <p:sp>
        <p:nvSpPr>
          <p:cNvPr id="43" name="Rectangle 42"/>
          <p:cNvSpPr/>
          <p:nvPr/>
        </p:nvSpPr>
        <p:spPr>
          <a:xfrm>
            <a:off x="4241800" y="4445000"/>
            <a:ext cx="1739900" cy="4064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41800" y="4546600"/>
            <a:ext cx="17399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AF8F3"/>
                </a:solidFill>
                <a:latin typeface="Noto Sans"/>
              </a:rPr>
              <a:t>Beta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83300" y="4445000"/>
            <a:ext cx="1739900" cy="406400"/>
          </a:xfrm>
          <a:prstGeom prst="rect">
            <a:avLst/>
          </a:prstGeom>
          <a:solidFill>
            <a:srgbClr val="5A64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83300" y="4546600"/>
            <a:ext cx="17399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AF8F3"/>
                </a:solidFill>
                <a:latin typeface="Noto Sans"/>
              </a:rPr>
              <a:t>GA prep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924800" y="4445000"/>
            <a:ext cx="1739900" cy="406400"/>
          </a:xfrm>
          <a:prstGeom prst="rect">
            <a:avLst/>
          </a:prstGeom>
          <a:solidFill>
            <a:srgbClr val="5A64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24800" y="4546600"/>
            <a:ext cx="17399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AF8F3"/>
                </a:solidFill>
                <a:latin typeface="Noto Sans"/>
              </a:rPr>
              <a:t>Launch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766300" y="4445000"/>
            <a:ext cx="1739900" cy="406400"/>
          </a:xfrm>
          <a:prstGeom prst="rect">
            <a:avLst/>
          </a:prstGeom>
          <a:solidFill>
            <a:srgbClr val="5A64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766300" y="4546600"/>
            <a:ext cx="17399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AF8F3"/>
                </a:solidFill>
                <a:latin typeface="Noto Sans"/>
              </a:rPr>
              <a:t>Scale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5000" y="55880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5000" y="5080000"/>
            <a:ext cx="1651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C9A24A"/>
                </a:solidFill>
                <a:latin typeface="Noto Sans Medium"/>
              </a:rPr>
              <a:t>Go-to-market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5000" y="5359400"/>
            <a:ext cx="1651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MARKETING · TEAM 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00300" y="5080000"/>
            <a:ext cx="1739900" cy="4064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00300" y="5181600"/>
            <a:ext cx="17399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AF8F3"/>
                </a:solidFill>
                <a:latin typeface="Noto Sans"/>
              </a:rPr>
              <a:t/>
            </a:r>
          </a:p>
        </p:txBody>
      </p:sp>
      <p:sp>
        <p:nvSpPr>
          <p:cNvPr id="56" name="Rectangle 55"/>
          <p:cNvSpPr/>
          <p:nvPr/>
        </p:nvSpPr>
        <p:spPr>
          <a:xfrm>
            <a:off x="4241800" y="5080000"/>
            <a:ext cx="1739900" cy="4064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241800" y="5181600"/>
            <a:ext cx="17399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AF8F3"/>
                </a:solidFill>
                <a:latin typeface="Noto Sans"/>
              </a:rPr>
              <a:t/>
            </a:r>
          </a:p>
        </p:txBody>
      </p:sp>
      <p:sp>
        <p:nvSpPr>
          <p:cNvPr id="58" name="Rectangle 57"/>
          <p:cNvSpPr/>
          <p:nvPr/>
        </p:nvSpPr>
        <p:spPr>
          <a:xfrm>
            <a:off x="6083300" y="5080000"/>
            <a:ext cx="1739900" cy="4064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083300" y="5181600"/>
            <a:ext cx="17399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AF8F3"/>
                </a:solidFill>
                <a:latin typeface="Noto Sans"/>
              </a:rPr>
              <a:t>Pricing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924800" y="5080000"/>
            <a:ext cx="1739900" cy="406400"/>
          </a:xfrm>
          <a:prstGeom prst="rect">
            <a:avLst/>
          </a:prstGeom>
          <a:solidFill>
            <a:srgbClr val="5A64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924800" y="5181600"/>
            <a:ext cx="17399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AF8F3"/>
                </a:solidFill>
                <a:latin typeface="Noto Sans"/>
              </a:rPr>
              <a:t>Channel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766300" y="5080000"/>
            <a:ext cx="1739900" cy="406400"/>
          </a:xfrm>
          <a:prstGeom prst="rect">
            <a:avLst/>
          </a:prstGeom>
          <a:solidFill>
            <a:srgbClr val="5A64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66300" y="5181600"/>
            <a:ext cx="17399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AF8F3"/>
                </a:solidFill>
                <a:latin typeface="Noto Sans"/>
              </a:rPr>
              <a:t>ABM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5000" y="62230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5000" y="5715000"/>
            <a:ext cx="1651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C9A24A"/>
                </a:solidFill>
                <a:latin typeface="Noto Sans Medium"/>
              </a:rPr>
              <a:t>Operations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5000" y="5994400"/>
            <a:ext cx="1651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FINANCE · TEAM D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400300" y="5715000"/>
            <a:ext cx="1739900" cy="406400"/>
          </a:xfrm>
          <a:prstGeom prst="rect">
            <a:avLst/>
          </a:prstGeom>
          <a:solidFill>
            <a:srgbClr val="3F85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400300" y="5816600"/>
            <a:ext cx="17399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AF8F3"/>
                </a:solidFill>
                <a:latin typeface="Noto Sans"/>
              </a:rPr>
              <a:t>Pricing model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241800" y="5715000"/>
            <a:ext cx="1739900" cy="4064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241800" y="5816600"/>
            <a:ext cx="17399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AF8F3"/>
                </a:solidFill>
                <a:latin typeface="Noto Sans"/>
              </a:rPr>
              <a:t>Quoting tool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083300" y="5715000"/>
            <a:ext cx="1739900" cy="406400"/>
          </a:xfrm>
          <a:prstGeom prst="rect">
            <a:avLst/>
          </a:prstGeom>
          <a:solidFill>
            <a:srgbClr val="5A64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083300" y="5816600"/>
            <a:ext cx="17399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AF8F3"/>
                </a:solidFill>
                <a:latin typeface="Noto Sans"/>
              </a:rPr>
              <a:t>Invoicing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924800" y="5715000"/>
            <a:ext cx="1739900" cy="4064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924800" y="5816600"/>
            <a:ext cx="17399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AF8F3"/>
                </a:solidFill>
                <a:latin typeface="Noto Sans"/>
              </a:rPr>
              <a:t/>
            </a:r>
          </a:p>
        </p:txBody>
      </p:sp>
      <p:sp>
        <p:nvSpPr>
          <p:cNvPr id="75" name="Rectangle 74"/>
          <p:cNvSpPr/>
          <p:nvPr/>
        </p:nvSpPr>
        <p:spPr>
          <a:xfrm>
            <a:off x="9766300" y="5715000"/>
            <a:ext cx="1739900" cy="4064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766300" y="5816600"/>
            <a:ext cx="17399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AF8F3"/>
                </a:solidFill>
                <a:latin typeface="Noto Sans"/>
              </a:rPr>
              <a:t/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SLIDE 26 / 32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LAYOUT · SCORECARD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1143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1397000"/>
            <a:ext cx="1092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B1A33"/>
                </a:solidFill>
                <a:latin typeface="Noto Sans Mono"/>
              </a:rPr>
              <a:t>LAYOUT · SCORECARD</a:t>
            </a:r>
          </a:p>
        </p:txBody>
      </p:sp>
      <p:sp>
        <p:nvSpPr>
          <p:cNvPr id="6" name="feinschliff-title-title"/>
          <p:cNvSpPr txBox="1"/>
          <p:nvPr/>
        </p:nvSpPr>
        <p:spPr>
          <a:xfrm>
            <a:off x="635000" y="1651000"/>
            <a:ext cx="10922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spc="-27">
                <a:solidFill>
                  <a:srgbClr val="0B1A33"/>
                </a:solidFill>
                <a:latin typeface="Noto Sans"/>
              </a:rPr>
              <a:t>Headline takeaway about portfolio health.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794000"/>
            <a:ext cx="2413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WORKSTREAM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75000" y="2794000"/>
            <a:ext cx="1778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7000" y="2794000"/>
            <a:ext cx="1778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P2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9000" y="2794000"/>
            <a:ext cx="1778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P3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71000" y="2794000"/>
            <a:ext cx="1778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P4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000" y="30480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000" y="3175000"/>
            <a:ext cx="2413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Workstream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75000" y="3175000"/>
            <a:ext cx="177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On plan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07000" y="3175000"/>
            <a:ext cx="177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On plan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9000" y="3175000"/>
            <a:ext cx="177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Slip 1w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71000" y="3175000"/>
            <a:ext cx="177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Cutover · 62%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000" y="37084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000" y="3835400"/>
            <a:ext cx="2413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Workstream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75000" y="3835400"/>
            <a:ext cx="177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On plan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07000" y="3835400"/>
            <a:ext cx="177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On plan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9000" y="3835400"/>
            <a:ext cx="177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On 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1000" y="3835400"/>
            <a:ext cx="177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Cutover · 100%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000" y="43688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000" y="4495800"/>
            <a:ext cx="2413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Workstream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25470" y="4495800"/>
            <a:ext cx="177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07000" y="4495800"/>
            <a:ext cx="177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Start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39000" y="4495800"/>
            <a:ext cx="177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Build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71000" y="4495800"/>
            <a:ext cx="177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Pilot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5000" y="50292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000" y="5156200"/>
            <a:ext cx="2413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Workstream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25470" y="5156200"/>
            <a:ext cx="177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57470" y="5156200"/>
            <a:ext cx="177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39000" y="5156200"/>
            <a:ext cx="177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Scope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71000" y="5156200"/>
            <a:ext cx="177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Plan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5000" y="56896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SLIDE 28 / 32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DATA · REVENUE MIX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1143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1397000"/>
            <a:ext cx="1092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B1A33"/>
                </a:solidFill>
                <a:latin typeface="Noto Sans Mono"/>
              </a:rPr>
              <a:t>LAYOUT · STACKED BAR</a:t>
            </a:r>
          </a:p>
        </p:txBody>
      </p:sp>
      <p:sp>
        <p:nvSpPr>
          <p:cNvPr id="6" name="feinschliff-title-title"/>
          <p:cNvSpPr txBox="1"/>
          <p:nvPr/>
        </p:nvSpPr>
        <p:spPr>
          <a:xfrm>
            <a:off x="635000" y="1651000"/>
            <a:ext cx="10922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spc="-27">
                <a:solidFill>
                  <a:srgbClr val="0B1A33"/>
                </a:solidFill>
                <a:latin typeface="Noto Sans"/>
              </a:rPr>
              <a:t>Headline takeaway about the mix over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9000" y="2032000"/>
            <a:ext cx="127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0B1A33"/>
                </a:solidFill>
                <a:latin typeface="Noto Sans"/>
              </a:rPr>
              <a:t>11.9</a:t>
            </a:r>
          </a:p>
        </p:txBody>
      </p:sp>
      <p:sp>
        <p:nvSpPr>
          <p:cNvPr id="8" name="Rectangle 7"/>
          <p:cNvSpPr/>
          <p:nvPr/>
        </p:nvSpPr>
        <p:spPr>
          <a:xfrm>
            <a:off x="889000" y="2736850"/>
            <a:ext cx="1270000" cy="635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9000" y="2800350"/>
            <a:ext cx="1270000" cy="342900"/>
          </a:xfrm>
          <a:prstGeom prst="rect">
            <a:avLst/>
          </a:prstGeom>
          <a:solidFill>
            <a:srgbClr val="2D47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89000" y="3143250"/>
            <a:ext cx="1270000" cy="692150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89000" y="3835400"/>
            <a:ext cx="1270000" cy="146685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9000" y="2895600"/>
            <a:ext cx="127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0ECE4"/>
                </a:solidFill>
                <a:latin typeface="Noto Sans"/>
              </a:rPr>
              <a:t>1.6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9000" y="3416300"/>
            <a:ext cx="127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0ECE4"/>
                </a:solidFill>
                <a:latin typeface="Noto Sans"/>
              </a:rPr>
              <a:t>3.2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9000" y="4495800"/>
            <a:ext cx="127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0ECE4"/>
                </a:solidFill>
                <a:latin typeface="Noto Sans"/>
              </a:rPr>
              <a:t>6.8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67000" y="2032000"/>
            <a:ext cx="127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0B1A33"/>
                </a:solidFill>
                <a:latin typeface="Noto Sans"/>
              </a:rPr>
              <a:t>12.4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67000" y="2622550"/>
            <a:ext cx="1270000" cy="10795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667000" y="2730500"/>
            <a:ext cx="1270000" cy="368300"/>
          </a:xfrm>
          <a:prstGeom prst="rect">
            <a:avLst/>
          </a:prstGeom>
          <a:solidFill>
            <a:srgbClr val="2D47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667000" y="3098800"/>
            <a:ext cx="1270000" cy="755650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667000" y="3854450"/>
            <a:ext cx="1270000" cy="14478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67000" y="2838450"/>
            <a:ext cx="127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0ECE4"/>
                </a:solidFill>
                <a:latin typeface="Noto Sans"/>
              </a:rPr>
              <a:t>1.7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67000" y="3403600"/>
            <a:ext cx="127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0ECE4"/>
                </a:solidFill>
                <a:latin typeface="Noto Sans"/>
              </a:rPr>
              <a:t>3.5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67000" y="4502150"/>
            <a:ext cx="127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0ECE4"/>
                </a:solidFill>
                <a:latin typeface="Noto Sans"/>
              </a:rPr>
              <a:t>6.7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5000" y="2032000"/>
            <a:ext cx="127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0B1A33"/>
                </a:solidFill>
                <a:latin typeface="Noto Sans"/>
              </a:rPr>
              <a:t>12.9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45000" y="2514600"/>
            <a:ext cx="1270000" cy="17145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45000" y="2686050"/>
            <a:ext cx="1270000" cy="387350"/>
          </a:xfrm>
          <a:prstGeom prst="rect">
            <a:avLst/>
          </a:prstGeom>
          <a:solidFill>
            <a:srgbClr val="2D47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45000" y="3073400"/>
            <a:ext cx="1270000" cy="800100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445000" y="3873500"/>
            <a:ext cx="1270000" cy="142875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45000" y="2806700"/>
            <a:ext cx="127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0ECE4"/>
                </a:solidFill>
                <a:latin typeface="Noto Sans"/>
              </a:rPr>
              <a:t>1.8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5000" y="3397250"/>
            <a:ext cx="127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0ECE4"/>
                </a:solidFill>
                <a:latin typeface="Noto Sans"/>
              </a:rPr>
              <a:t>3.7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45000" y="4508500"/>
            <a:ext cx="127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0ECE4"/>
                </a:solidFill>
                <a:latin typeface="Noto Sans"/>
              </a:rPr>
              <a:t>6.6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23000" y="2032000"/>
            <a:ext cx="127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0B1A33"/>
                </a:solidFill>
                <a:latin typeface="Noto Sans"/>
              </a:rPr>
              <a:t>13.4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23000" y="2406650"/>
            <a:ext cx="1270000" cy="23495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23000" y="2641600"/>
            <a:ext cx="1270000" cy="412750"/>
          </a:xfrm>
          <a:prstGeom prst="rect">
            <a:avLst/>
          </a:prstGeom>
          <a:solidFill>
            <a:srgbClr val="2D47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23000" y="3054350"/>
            <a:ext cx="1270000" cy="844550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23000" y="3898900"/>
            <a:ext cx="1270000" cy="140335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23000" y="2451100"/>
            <a:ext cx="127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0B1A33"/>
                </a:solidFill>
                <a:latin typeface="Noto Sans"/>
              </a:rPr>
              <a:t>1.1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23000" y="2774950"/>
            <a:ext cx="127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0ECE4"/>
                </a:solidFill>
                <a:latin typeface="Noto Sans"/>
              </a:rPr>
              <a:t>1.9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23000" y="3403600"/>
            <a:ext cx="127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0ECE4"/>
                </a:solidFill>
                <a:latin typeface="Noto Sans"/>
              </a:rPr>
              <a:t>3.9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23000" y="4521200"/>
            <a:ext cx="127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0ECE4"/>
                </a:solidFill>
                <a:latin typeface="Noto Sans"/>
              </a:rPr>
              <a:t>6.5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1000" y="2032000"/>
            <a:ext cx="127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0B1A33"/>
                </a:solidFill>
                <a:latin typeface="Noto Sans"/>
              </a:rPr>
              <a:t>14.1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01000" y="2254250"/>
            <a:ext cx="1270000" cy="3048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001000" y="2559050"/>
            <a:ext cx="1270000" cy="450850"/>
          </a:xfrm>
          <a:prstGeom prst="rect">
            <a:avLst/>
          </a:prstGeom>
          <a:solidFill>
            <a:srgbClr val="2D47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001000" y="3009900"/>
            <a:ext cx="1270000" cy="908050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01000" y="3917950"/>
            <a:ext cx="1270000" cy="13843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01000" y="2330450"/>
            <a:ext cx="127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0B1A33"/>
                </a:solidFill>
                <a:latin typeface="Noto Sans"/>
              </a:rPr>
              <a:t>1.4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01000" y="2711450"/>
            <a:ext cx="127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0ECE4"/>
                </a:solidFill>
                <a:latin typeface="Noto Sans"/>
              </a:rPr>
              <a:t>2.1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01000" y="3390900"/>
            <a:ext cx="127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0ECE4"/>
                </a:solidFill>
                <a:latin typeface="Noto Sans"/>
              </a:rPr>
              <a:t>4.2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01000" y="4533900"/>
            <a:ext cx="127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0ECE4"/>
                </a:solidFill>
                <a:latin typeface="Noto Sans"/>
              </a:rPr>
              <a:t>6.4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9000" y="5461000"/>
            <a:ext cx="127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P1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67000" y="5461000"/>
            <a:ext cx="127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P2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45000" y="5461000"/>
            <a:ext cx="127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P3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23000" y="5461000"/>
            <a:ext cx="127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P4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01000" y="5461000"/>
            <a:ext cx="127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P5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79000" y="2095500"/>
            <a:ext cx="1778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SEGMENT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779000" y="2286000"/>
            <a:ext cx="101600" cy="1016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931400" y="2286000"/>
            <a:ext cx="1524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Series 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931400" y="2413000"/>
            <a:ext cx="1524000" cy="114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−6% · 5y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779000" y="2730500"/>
            <a:ext cx="101600" cy="101600"/>
          </a:xfrm>
          <a:prstGeom prst="rect">
            <a:avLst/>
          </a:prstGeom>
          <a:solidFill>
            <a:srgbClr val="162A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931400" y="2730500"/>
            <a:ext cx="1524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Series B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31400" y="2857500"/>
            <a:ext cx="1524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+31% · 5y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779000" y="3175000"/>
            <a:ext cx="101600" cy="101600"/>
          </a:xfrm>
          <a:prstGeom prst="rect">
            <a:avLst/>
          </a:prstGeom>
          <a:solidFill>
            <a:srgbClr val="2D477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931400" y="3175000"/>
            <a:ext cx="1524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Series 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31400" y="3302000"/>
            <a:ext cx="1524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+31% · 5y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779000" y="3619500"/>
            <a:ext cx="101600" cy="1016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931400" y="3619500"/>
            <a:ext cx="1524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Series 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31400" y="3746500"/>
            <a:ext cx="1524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+367% · 5y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5000" y="5969000"/>
            <a:ext cx="10922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Source · placeholder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SLIDE 22 / 32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REVENUE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1143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1397000"/>
            <a:ext cx="1092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B1A33"/>
                </a:solidFill>
                <a:latin typeface="Noto Sans Mono"/>
              </a:rPr>
              <a:t>Q1 BY REGION</a:t>
            </a:r>
          </a:p>
        </p:txBody>
      </p:sp>
      <p:sp>
        <p:nvSpPr>
          <p:cNvPr id="6" name="feinschliff-title-title"/>
          <p:cNvSpPr txBox="1"/>
          <p:nvPr/>
        </p:nvSpPr>
        <p:spPr>
          <a:xfrm>
            <a:off x="635000" y="1651000"/>
            <a:ext cx="10922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spc="-27">
                <a:solidFill>
                  <a:srgbClr val="0B1A33"/>
                </a:solidFill>
                <a:latin typeface="Noto Sans"/>
              </a:rPr>
              <a:t>AMER pulled +18% YoY while LATAM softened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2286000"/>
            <a:ext cx="10922000" cy="3048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000" y="5524500"/>
            <a:ext cx="1092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So what: AMER acceleration is the lever; protect it in Q2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5969000"/>
            <a:ext cx="10922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Finance OPS export, 2026-04-30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FEINSCHLIFF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V0.3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REVENUE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1143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1397000"/>
            <a:ext cx="1092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B1A33"/>
                </a:solidFill>
                <a:latin typeface="Noto Sans Mono"/>
              </a:rPr>
              <a:t>QUARTERLY REVENUE × REGION × SEGMENT</a:t>
            </a:r>
          </a:p>
        </p:txBody>
      </p:sp>
      <p:sp>
        <p:nvSpPr>
          <p:cNvPr id="6" name="feinschliff-title-title"/>
          <p:cNvSpPr txBox="1"/>
          <p:nvPr/>
        </p:nvSpPr>
        <p:spPr>
          <a:xfrm>
            <a:off x="635000" y="1651000"/>
            <a:ext cx="10922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spc="-27">
                <a:solidFill>
                  <a:srgbClr val="0B1A33"/>
                </a:solidFill>
                <a:latin typeface="Noto Sans"/>
              </a:rPr>
              <a:t>AMER enterprise carried Q1; LATAM mid-market is the Q2 unlock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2159000"/>
            <a:ext cx="10922000" cy="457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000" y="6731000"/>
            <a:ext cx="10922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So what: AMER over-attainment masked LATAM softness; build a LATAM mid-market plan or rebalance quota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FEINSCHLIFF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V0.3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LAYOUT · 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1143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1397000"/>
            <a:ext cx="1092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B1A33"/>
                </a:solidFill>
                <a:latin typeface="Noto Sans Mono"/>
              </a:rPr>
              <a:t>LAYOUT · TABLE</a:t>
            </a:r>
          </a:p>
        </p:txBody>
      </p:sp>
      <p:sp>
        <p:nvSpPr>
          <p:cNvPr id="6" name="feinschliff-title-title"/>
          <p:cNvSpPr txBox="1"/>
          <p:nvPr/>
        </p:nvSpPr>
        <p:spPr>
          <a:xfrm>
            <a:off x="635000" y="1651000"/>
            <a:ext cx="10922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spc="-27">
                <a:solidFill>
                  <a:srgbClr val="0B1A33"/>
                </a:solidFill>
                <a:latin typeface="Noto Sans"/>
              </a:rPr>
              <a:t>Headline takeaway about the table data.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794000"/>
            <a:ext cx="10922000" cy="127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000" y="2921000"/>
            <a:ext cx="1905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67000" y="2921000"/>
            <a:ext cx="1778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COLUMN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921000"/>
            <a:ext cx="1778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COLUMN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0" y="2921000"/>
            <a:ext cx="1778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COLUMN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0" y="2921000"/>
            <a:ext cx="1778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COLUMN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2921000"/>
            <a:ext cx="127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COLUMN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3302000"/>
            <a:ext cx="1905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D3A52"/>
                </a:solidFill>
                <a:latin typeface="Noto Sans"/>
              </a:rPr>
              <a:t>Row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67000" y="3302000"/>
            <a:ext cx="1778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302000"/>
            <a:ext cx="1778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7000" y="3302000"/>
            <a:ext cx="1778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2000" y="3302000"/>
            <a:ext cx="1778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3302000"/>
            <a:ext cx="1270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000" y="36830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000" y="3810000"/>
            <a:ext cx="1905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D3A52"/>
                </a:solidFill>
                <a:latin typeface="Noto Sans"/>
              </a:rPr>
              <a:t>Row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67000" y="3810000"/>
            <a:ext cx="1778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810000"/>
            <a:ext cx="1778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7000" y="3810000"/>
            <a:ext cx="1778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2000" y="3810000"/>
            <a:ext cx="1778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3810000"/>
            <a:ext cx="1270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5000" y="41910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000" y="4318000"/>
            <a:ext cx="1905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D3A52"/>
                </a:solidFill>
                <a:latin typeface="Noto Sans"/>
              </a:rPr>
              <a:t>Row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67000" y="4318000"/>
            <a:ext cx="1778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4318000"/>
            <a:ext cx="1778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77000" y="4318000"/>
            <a:ext cx="1778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0" y="4318000"/>
            <a:ext cx="1778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87000" y="4318000"/>
            <a:ext cx="1270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5000" y="46990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000" y="4826000"/>
            <a:ext cx="1905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D3A52"/>
                </a:solidFill>
                <a:latin typeface="Noto Sans"/>
              </a:rPr>
              <a:t>Row 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67000" y="4826000"/>
            <a:ext cx="1778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826000"/>
            <a:ext cx="1778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77000" y="4826000"/>
            <a:ext cx="1778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82000" y="4826000"/>
            <a:ext cx="1778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87000" y="4826000"/>
            <a:ext cx="1270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5000" y="52070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5000" y="5334000"/>
            <a:ext cx="1905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D3A52"/>
                </a:solidFill>
                <a:latin typeface="Noto Sans"/>
              </a:rPr>
              <a:t>Row 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67000" y="5334000"/>
            <a:ext cx="1778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5334000"/>
            <a:ext cx="1778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77000" y="5334000"/>
            <a:ext cx="1778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0" y="5334000"/>
            <a:ext cx="1778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5334000"/>
            <a:ext cx="1270000" cy="228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D3A52"/>
                </a:solidFill>
                <a:latin typeface="Noto Sans"/>
              </a:rPr>
              <a:t>Cell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5000" y="57150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SLIDE 23 / 32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LAYOUT · TEXT + PICTURE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604000" y="1270000"/>
            <a:ext cx="4953000" cy="4572000"/>
          </a:xfrm>
          <a:prstGeom prst="rect">
            <a:avLst/>
          </a:prstGeom>
          <a:solidFill>
            <a:srgbClr val="F4F1E8"/>
          </a:solidFill>
          <a:ln w="9525">
            <a:solidFill>
              <a:srgbClr val="D6D1C2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000" y="1270000"/>
            <a:ext cx="4953000" cy="4572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35000" y="1270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000" y="1651000"/>
            <a:ext cx="5207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B1A33"/>
                </a:solidFill>
                <a:latin typeface="Noto Sans Mono"/>
              </a:rPr>
              <a:t>FLAGSHIP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905000"/>
            <a:ext cx="5207000" cy="241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6000" b="0" spc="-89">
                <a:solidFill>
                  <a:srgbClr val="0B1A33"/>
                </a:solidFill>
                <a:latin typeface="Noto Sans Light"/>
              </a:rPr>
              <a:t>Text paired with a picture.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4572000"/>
            <a:ext cx="49530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Body copy on one side, image frame on the other. Replace via /deck.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000" y="5638800"/>
            <a:ext cx="1841500" cy="431800"/>
          </a:xfrm>
          <a:prstGeom prst="rect">
            <a:avLst/>
          </a:prstGeom>
          <a:solidFill>
            <a:srgbClr val="C9A24A"/>
          </a:solidFill>
          <a:ln w="6350">
            <a:solidFill>
              <a:srgbClr val="C9A24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200" y="5759450"/>
            <a:ext cx="1651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B1A33"/>
                </a:solidFill>
                <a:latin typeface="Noto Sans Medium"/>
              </a:rPr>
              <a:t>Read the brief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3500" y="5638800"/>
            <a:ext cx="1524000" cy="431800"/>
          </a:xfrm>
          <a:prstGeom prst="rect">
            <a:avLst/>
          </a:prstGeom>
          <a:solidFill>
            <a:srgbClr val="FAF8F3"/>
          </a:solidFill>
          <a:ln w="6350">
            <a:solidFill>
              <a:srgbClr val="0B1A3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06700" y="5759450"/>
            <a:ext cx="127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B1A33"/>
                </a:solidFill>
                <a:latin typeface="Noto Sans Medium"/>
              </a:rPr>
              <a:t>Spec sheet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SLIDE 11 / 32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LAYOUT · 3-COLUMN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1143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1397000"/>
            <a:ext cx="1079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B1A33"/>
                </a:solidFill>
                <a:latin typeface="Noto Sans Mono"/>
              </a:rPr>
              <a:t>THREE PILLARS</a:t>
            </a:r>
          </a:p>
        </p:txBody>
      </p:sp>
      <p:sp>
        <p:nvSpPr>
          <p:cNvPr id="6" name="feinschliff-title-title"/>
          <p:cNvSpPr txBox="1"/>
          <p:nvPr/>
        </p:nvSpPr>
        <p:spPr>
          <a:xfrm>
            <a:off x="635000" y="1651000"/>
            <a:ext cx="107950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spc="-27">
                <a:solidFill>
                  <a:srgbClr val="0B1A33"/>
                </a:solidFill>
                <a:latin typeface="Noto Sans"/>
              </a:rPr>
              <a:t>Three columns.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3175000"/>
            <a:ext cx="31623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0">
                <a:solidFill>
                  <a:srgbClr val="C9A24A"/>
                </a:solidFill>
                <a:latin typeface="Noto Sans Mon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3429000"/>
            <a:ext cx="3162300" cy="82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spc="-21">
                <a:solidFill>
                  <a:srgbClr val="0B1A33"/>
                </a:solidFill>
                <a:latin typeface="Noto Sans Medium"/>
              </a:rPr>
              <a:t>Column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4318000"/>
            <a:ext cx="31623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2D3A52"/>
                </a:solidFill>
                <a:latin typeface="Noto Sans"/>
              </a:rPr>
              <a:t>Description for the first column.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1500" y="3175000"/>
            <a:ext cx="31623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0">
                <a:solidFill>
                  <a:srgbClr val="C9A24A"/>
                </a:solidFill>
                <a:latin typeface="Noto Sans Mono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1500" y="3429000"/>
            <a:ext cx="3162300" cy="82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spc="-21">
                <a:solidFill>
                  <a:srgbClr val="0B1A33"/>
                </a:solidFill>
                <a:latin typeface="Noto Sans Medium"/>
              </a:rPr>
              <a:t>Column two.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1500" y="4318000"/>
            <a:ext cx="31623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2D3A52"/>
                </a:solidFill>
                <a:latin typeface="Noto Sans"/>
              </a:rPr>
              <a:t>Description for the second column.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0" y="3175000"/>
            <a:ext cx="31623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0">
                <a:solidFill>
                  <a:srgbClr val="C9A24A"/>
                </a:solidFill>
                <a:latin typeface="Noto Sans Mono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0" y="3429000"/>
            <a:ext cx="3162300" cy="825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spc="-21">
                <a:solidFill>
                  <a:srgbClr val="0B1A33"/>
                </a:solidFill>
                <a:latin typeface="Noto Sans Medium"/>
              </a:rPr>
              <a:t>Column three.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8000" y="4318000"/>
            <a:ext cx="31623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2D3A52"/>
                </a:solidFill>
                <a:latin typeface="Noto Sans"/>
              </a:rPr>
              <a:t>Description for the third column.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SLIDE 9 / 32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TIMELINE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1143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1397000"/>
            <a:ext cx="10922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96">
                <a:solidFill>
                  <a:srgbClr val="2D3A52"/>
                </a:solidFill>
                <a:latin typeface="Noto Sans Mono"/>
              </a:rPr>
              <a:t>LAYOUT · 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000" y="1651000"/>
            <a:ext cx="1092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spc="108">
                <a:solidFill>
                  <a:srgbClr val="C9A24A"/>
                </a:solidFill>
                <a:latin typeface="Noto Sans Mono"/>
              </a:rPr>
              <a:t>HOW WE GOT HERE</a:t>
            </a:r>
          </a:p>
        </p:txBody>
      </p:sp>
      <p:sp>
        <p:nvSpPr>
          <p:cNvPr id="7" name="feinschliff-title-act-title"/>
          <p:cNvSpPr txBox="1"/>
          <p:nvPr/>
        </p:nvSpPr>
        <p:spPr>
          <a:xfrm>
            <a:off x="635000" y="1905000"/>
            <a:ext cx="109220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0" spc="-56">
                <a:solidFill>
                  <a:srgbClr val="0B1A33"/>
                </a:solidFill>
                <a:latin typeface="Noto Sans"/>
              </a:rPr>
              <a:t>Eight years from bootstrap to $40M ARR.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889000"/>
            <a:ext cx="10922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spc="112">
                <a:solidFill>
                  <a:srgbClr val="2D3A52"/>
                </a:solidFill>
                <a:latin typeface="Noto Sans Mono"/>
              </a:rPr>
              <a:t>2018 →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3860800"/>
            <a:ext cx="4762500" cy="152400"/>
          </a:xfrm>
          <a:prstGeom prst="rect">
            <a:avLst/>
          </a:prstGeom>
          <a:solidFill>
            <a:srgbClr val="F4F1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4445000"/>
            <a:ext cx="47625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spc="112">
                <a:solidFill>
                  <a:srgbClr val="2D3A52"/>
                </a:solidFill>
                <a:latin typeface="Noto Sans Mono"/>
              </a:rPr>
              <a:t>FOUNDER-LED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05500" y="3860800"/>
            <a:ext cx="4762500" cy="152400"/>
          </a:xfrm>
          <a:prstGeom prst="rect">
            <a:avLst/>
          </a:prstGeom>
          <a:solidFill>
            <a:srgbClr val="D6E0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05500" y="4445000"/>
            <a:ext cx="47625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spc="112">
                <a:solidFill>
                  <a:srgbClr val="2D3A52"/>
                </a:solidFill>
                <a:latin typeface="Noto Sans Mono"/>
              </a:rPr>
              <a:t>SCALE PHASE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000" y="3937000"/>
            <a:ext cx="10922000" cy="127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Diamond 13"/>
          <p:cNvSpPr/>
          <p:nvPr/>
        </p:nvSpPr>
        <p:spPr>
          <a:xfrm>
            <a:off x="1092200" y="3886200"/>
            <a:ext cx="101600" cy="101600"/>
          </a:xfrm>
          <a:prstGeom prst="diamond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36650" y="3835400"/>
            <a:ext cx="12700" cy="1016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7500" y="2686050"/>
            <a:ext cx="1778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spc="112">
                <a:solidFill>
                  <a:srgbClr val="C9A24A"/>
                </a:solidFill>
                <a:latin typeface="Noto Sans Mono"/>
              </a:rPr>
              <a:t>2018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7500" y="3009900"/>
            <a:ext cx="1778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Bootstrap.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500" y="3352800"/>
            <a:ext cx="177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Two founders, six customers.</a:t>
            </a:r>
          </a:p>
        </p:txBody>
      </p:sp>
      <p:sp>
        <p:nvSpPr>
          <p:cNvPr id="19" name="Diamond 18"/>
          <p:cNvSpPr/>
          <p:nvPr/>
        </p:nvSpPr>
        <p:spPr>
          <a:xfrm>
            <a:off x="3473450" y="3886200"/>
            <a:ext cx="101600" cy="101600"/>
          </a:xfrm>
          <a:prstGeom prst="diamond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17900" y="3987800"/>
            <a:ext cx="12700" cy="9525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98750" y="4953000"/>
            <a:ext cx="1651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spc="112">
                <a:solidFill>
                  <a:srgbClr val="C9A24A"/>
                </a:solidFill>
                <a:latin typeface="Noto Sans Mono"/>
              </a:rPr>
              <a:t>2020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8750" y="5118100"/>
            <a:ext cx="1651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Seed round.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8750" y="5549900"/>
            <a:ext cx="1651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$2.5M led by Foundry.</a:t>
            </a:r>
          </a:p>
        </p:txBody>
      </p:sp>
      <p:sp>
        <p:nvSpPr>
          <p:cNvPr id="24" name="Diamond 23"/>
          <p:cNvSpPr/>
          <p:nvPr/>
        </p:nvSpPr>
        <p:spPr>
          <a:xfrm>
            <a:off x="5854700" y="3886200"/>
            <a:ext cx="101600" cy="101600"/>
          </a:xfrm>
          <a:prstGeom prst="diamond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899150" y="3835400"/>
            <a:ext cx="12700" cy="1016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80000" y="2686050"/>
            <a:ext cx="1651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spc="112">
                <a:solidFill>
                  <a:srgbClr val="C9A24A"/>
                </a:solidFill>
                <a:latin typeface="Noto Sans Mono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80000" y="3009900"/>
            <a:ext cx="1651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Series 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80000" y="3352800"/>
            <a:ext cx="1651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$12M, growth team.</a:t>
            </a:r>
          </a:p>
        </p:txBody>
      </p:sp>
      <p:sp>
        <p:nvSpPr>
          <p:cNvPr id="29" name="Diamond 28"/>
          <p:cNvSpPr/>
          <p:nvPr/>
        </p:nvSpPr>
        <p:spPr>
          <a:xfrm>
            <a:off x="8235950" y="3886200"/>
            <a:ext cx="101600" cy="101600"/>
          </a:xfrm>
          <a:prstGeom prst="diamond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80400" y="3987800"/>
            <a:ext cx="12700" cy="9525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61250" y="4953000"/>
            <a:ext cx="1651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spc="112">
                <a:solidFill>
                  <a:srgbClr val="C9A24A"/>
                </a:solidFill>
                <a:latin typeface="Noto Sans Mono"/>
              </a:rPr>
              <a:t>2024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61250" y="5118100"/>
            <a:ext cx="1651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$10M ARR.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61250" y="5549900"/>
            <a:ext cx="1651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First enterprise plan.</a:t>
            </a:r>
          </a:p>
        </p:txBody>
      </p:sp>
      <p:sp>
        <p:nvSpPr>
          <p:cNvPr id="34" name="Diamond 33"/>
          <p:cNvSpPr/>
          <p:nvPr/>
        </p:nvSpPr>
        <p:spPr>
          <a:xfrm>
            <a:off x="10617200" y="3886200"/>
            <a:ext cx="101600" cy="101600"/>
          </a:xfrm>
          <a:prstGeom prst="diamond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1650" y="3835400"/>
            <a:ext cx="12700" cy="10160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42500" y="2686050"/>
            <a:ext cx="1651000" cy="12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spc="112">
                <a:solidFill>
                  <a:srgbClr val="C9A24A"/>
                </a:solidFill>
                <a:latin typeface="Noto Sans Mono"/>
              </a:rPr>
              <a:t>2026 Q3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42500" y="3009900"/>
            <a:ext cx="1651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$40M ARR.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42500" y="3352800"/>
            <a:ext cx="1651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Today.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SLIDE 32 / 32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E3DED3"/>
                </a:solidFill>
                <a:latin typeface="Noto Sans Mono"/>
              </a:rPr>
              <a:t>FEINSCHLIFF. · SHOWCASE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2921000"/>
            <a:ext cx="508000" cy="254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3302000"/>
            <a:ext cx="1079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C9A24A"/>
                </a:solidFill>
                <a:latin typeface="Noto Sans Mono"/>
              </a:rPr>
              <a:t>LAYOUT · TITLE INK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3556000"/>
            <a:ext cx="10795000" cy="2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8000" b="0" spc="-280">
                <a:solidFill>
                  <a:srgbClr val="F0ECE4"/>
                </a:solidFill>
                <a:latin typeface="Noto Sans Light"/>
              </a:rPr>
              <a:t>Title slide,</a:t>
            </a:r>
          </a:p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8000" b="0" spc="-280">
                <a:solidFill>
                  <a:srgbClr val="F0ECE4"/>
                </a:solidFill>
                <a:latin typeface="Noto Sans Light"/>
              </a:rPr>
              <a:t>dark variant.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D9D3C5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D9D3C5"/>
                </a:solidFill>
                <a:latin typeface="Noto Sans Mono"/>
              </a:rPr>
              <a:t>SLIDE 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FEINSCHLIFF. · SHOWCASE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" y="2921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3302000"/>
            <a:ext cx="1079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B1A33"/>
                </a:solidFill>
                <a:latin typeface="Noto Sans Mono"/>
              </a:rPr>
              <a:t>LAYOUT · TITLE ACCENT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3556000"/>
            <a:ext cx="10795000" cy="2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</a:pPr>
            <a:r>
              <a:rPr sz="8000" b="0" spc="-280">
                <a:solidFill>
                  <a:srgbClr val="0B1A33"/>
                </a:solidFill>
                <a:latin typeface="Noto Sans Light"/>
              </a:rPr>
              <a:t>Feinschliff</a:t>
            </a:r>
          </a:p>
          <a:p>
            <a:pPr algn="l">
              <a:lnSpc>
                <a:spcPct val="95000"/>
              </a:lnSpc>
              <a:spcBef>
                <a:spcPts val="0"/>
              </a:spcBef>
            </a:pPr>
            <a:r>
              <a:rPr sz="8000" b="0" spc="-280">
                <a:solidFill>
                  <a:srgbClr val="0B1A33"/>
                </a:solidFill>
                <a:latin typeface="Noto Sans Light"/>
              </a:rPr>
              <a:t>showcase deck.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SLIDE 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LAYOUT · 2-COLUMN CARDS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1143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1397000"/>
            <a:ext cx="10795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B1A33"/>
                </a:solidFill>
                <a:latin typeface="Noto Sans Mono"/>
              </a:rPr>
              <a:t>TWO COLUMNS</a:t>
            </a:r>
          </a:p>
        </p:txBody>
      </p:sp>
      <p:sp>
        <p:nvSpPr>
          <p:cNvPr id="6" name="feinschliff-title-title"/>
          <p:cNvSpPr txBox="1"/>
          <p:nvPr/>
        </p:nvSpPr>
        <p:spPr>
          <a:xfrm>
            <a:off x="635000" y="1651000"/>
            <a:ext cx="10795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spc="-27">
                <a:solidFill>
                  <a:srgbClr val="0B1A33"/>
                </a:solidFill>
                <a:latin typeface="Noto Sans"/>
              </a:rPr>
              <a:t>Two columns.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921000"/>
            <a:ext cx="5308600" cy="3048000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3175000"/>
            <a:ext cx="48006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0">
                <a:solidFill>
                  <a:srgbClr val="C9A24A"/>
                </a:solidFill>
                <a:latin typeface="Noto Sans Mono"/>
              </a:rPr>
              <a:t>01 · COLUMN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3454400"/>
            <a:ext cx="48006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spc="-21">
                <a:solidFill>
                  <a:srgbClr val="0B1A33"/>
                </a:solidFill>
                <a:latin typeface="Noto Sans Medium"/>
              </a:rPr>
              <a:t>Lead sentence for the first column.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" y="4419600"/>
            <a:ext cx="48006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2D3A52"/>
                </a:solidFill>
                <a:latin typeface="Noto Sans"/>
              </a:rPr>
              <a:t>Supporting detail line two.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8400" y="2921000"/>
            <a:ext cx="5308600" cy="3048000"/>
          </a:xfrm>
          <a:prstGeom prst="rect">
            <a:avLst/>
          </a:prstGeom>
          <a:solidFill>
            <a:srgbClr val="FAF8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02400" y="3175000"/>
            <a:ext cx="48006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700" b="0">
                <a:solidFill>
                  <a:srgbClr val="C9A24A"/>
                </a:solidFill>
                <a:latin typeface="Noto Sans Mono"/>
              </a:rPr>
              <a:t>02 · COLUMN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02400" y="3454400"/>
            <a:ext cx="48006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spc="-21">
                <a:solidFill>
                  <a:srgbClr val="0B1A33"/>
                </a:solidFill>
                <a:latin typeface="Noto Sans Medium"/>
              </a:rPr>
              <a:t>Lead sentence for the second column.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02400" y="4419600"/>
            <a:ext cx="48006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2D3A52"/>
                </a:solidFill>
                <a:latin typeface="Noto Sans"/>
              </a:rPr>
              <a:t>Supporting detail line two.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SLIDE 8 / 32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V-MODEL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000" y="1143000"/>
            <a:ext cx="10922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spc="96">
                <a:solidFill>
                  <a:srgbClr val="2D3A52"/>
                </a:solidFill>
                <a:latin typeface="Noto Sans Mono"/>
              </a:rPr>
              <a:t>SDLC · V-MODEL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000" y="1397000"/>
            <a:ext cx="1092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spc="108">
                <a:solidFill>
                  <a:srgbClr val="0B1A33"/>
                </a:solidFill>
                <a:latin typeface="Noto Sans Mono"/>
              </a:rPr>
              <a:t>VERIFICATION · VALIDATION</a:t>
            </a:r>
          </a:p>
        </p:txBody>
      </p:sp>
      <p:sp>
        <p:nvSpPr>
          <p:cNvPr id="6" name="feinschliff-title-act-title"/>
          <p:cNvSpPr txBox="1"/>
          <p:nvPr/>
        </p:nvSpPr>
        <p:spPr>
          <a:xfrm>
            <a:off x="635000" y="1651000"/>
            <a:ext cx="10287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0" spc="-56">
                <a:solidFill>
                  <a:srgbClr val="0B1A33"/>
                </a:solidFill>
                <a:latin typeface="Noto Sans"/>
              </a:rPr>
              <a:t>Every design step on the left has a matching test on the right.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3175000"/>
            <a:ext cx="2159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spc="96">
                <a:solidFill>
                  <a:srgbClr val="2D3A52"/>
                </a:solidFill>
                <a:latin typeface="Noto Sans Mono"/>
              </a:rPr>
              <a:t>VERIFICATION 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98000" y="3175000"/>
            <a:ext cx="2159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96">
                <a:solidFill>
                  <a:srgbClr val="2D3A52"/>
                </a:solidFill>
                <a:latin typeface="Noto Sans Mono"/>
              </a:rPr>
              <a:t>VALIDATION PHASE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45000" y="3429000"/>
            <a:ext cx="1397000" cy="2286000"/>
          </a:xfrm>
          <a:prstGeom prst="line">
            <a:avLst/>
          </a:prstGeom>
          <a:ln w="9525">
            <a:solidFill>
              <a:srgbClr val="D6D1C2"/>
            </a:solidFill>
          </a:ln>
        </p:spPr>
      </p:cxnSp>
      <p:cxnSp>
        <p:nvCxnSpPr>
          <p:cNvPr id="10" name="Connector 9"/>
          <p:cNvCxnSpPr/>
          <p:nvPr/>
        </p:nvCxnSpPr>
        <p:spPr>
          <a:xfrm flipH="1">
            <a:off x="6350000" y="3429000"/>
            <a:ext cx="1397000" cy="2286000"/>
          </a:xfrm>
          <a:prstGeom prst="line">
            <a:avLst/>
          </a:prstGeom>
          <a:ln w="9525">
            <a:solidFill>
              <a:srgbClr val="D6D1C2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635000" y="3505200"/>
            <a:ext cx="127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PHASE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3683000"/>
            <a:ext cx="3302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Requirement gathering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26000" y="3632200"/>
            <a:ext cx="254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spc="96">
                <a:solidFill>
                  <a:srgbClr val="2D3A52"/>
                </a:solidFill>
                <a:latin typeface="Noto Sans Mono"/>
              </a:rPr>
              <a:t>ACCEPTANCE PLAN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95000" y="3505200"/>
            <a:ext cx="762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TEST 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5000" y="3683000"/>
            <a:ext cx="3302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Acceptance testing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013200"/>
            <a:ext cx="127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PHASE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191000"/>
            <a:ext cx="2794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System analysis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6000" y="4140200"/>
            <a:ext cx="254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spc="96">
                <a:solidFill>
                  <a:srgbClr val="2D3A52"/>
                </a:solidFill>
                <a:latin typeface="Noto Sans Mono"/>
              </a:rPr>
              <a:t>SYSTEM TEST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4013200"/>
            <a:ext cx="762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TEST 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5000" y="4191000"/>
            <a:ext cx="2794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System testing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51000" y="4521200"/>
            <a:ext cx="127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PHASE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51000" y="4699000"/>
            <a:ext cx="2286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Software design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26000" y="4648200"/>
            <a:ext cx="254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spc="96">
                <a:solidFill>
                  <a:srgbClr val="2D3A52"/>
                </a:solidFill>
                <a:latin typeface="Noto Sans Mono"/>
              </a:rPr>
              <a:t>INTEGRATION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79000" y="4521200"/>
            <a:ext cx="762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TEST 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5000" y="4699000"/>
            <a:ext cx="2286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Integration testing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59000" y="5029200"/>
            <a:ext cx="127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PHASE 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59000" y="5207000"/>
            <a:ext cx="177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Module design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26000" y="5156200"/>
            <a:ext cx="254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spc="96">
                <a:solidFill>
                  <a:srgbClr val="2D3A52"/>
                </a:solidFill>
                <a:latin typeface="Noto Sans Mono"/>
              </a:rPr>
              <a:t>UNIT TESTS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71000" y="5029200"/>
            <a:ext cx="762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TEST 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5000" y="5207000"/>
            <a:ext cx="1778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Unit testing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26000" y="5715000"/>
            <a:ext cx="2540000" cy="5080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26000" y="5778500"/>
            <a:ext cx="2540000" cy="114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spc="112">
                <a:solidFill>
                  <a:srgbClr val="0B1A33"/>
                </a:solidFill>
                <a:latin typeface="Noto Sans Mono"/>
              </a:rPr>
              <a:t>PIVOT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26000" y="5969000"/>
            <a:ext cx="254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spc="96">
                <a:solidFill>
                  <a:srgbClr val="0B1A33"/>
                </a:solidFill>
                <a:latin typeface="Noto Sans Mono"/>
              </a:rPr>
              <a:t>CODING &amp; IMPLEMENTATION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SLIDE 32 / 33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LAYOUT · VENN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1143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1397000"/>
            <a:ext cx="1092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B1A33"/>
                </a:solidFill>
                <a:latin typeface="Noto Sans Mono"/>
              </a:rPr>
              <a:t>LAYOUT · VENN</a:t>
            </a:r>
          </a:p>
        </p:txBody>
      </p:sp>
      <p:sp>
        <p:nvSpPr>
          <p:cNvPr id="6" name="feinschliff-title-title"/>
          <p:cNvSpPr txBox="1"/>
          <p:nvPr/>
        </p:nvSpPr>
        <p:spPr>
          <a:xfrm>
            <a:off x="635000" y="1651000"/>
            <a:ext cx="10922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spc="-27">
                <a:solidFill>
                  <a:srgbClr val="0B1A33"/>
                </a:solidFill>
                <a:latin typeface="Noto Sans"/>
              </a:rPr>
              <a:t>Headline takeaway about the intersection of three sets.</a:t>
            </a:r>
          </a:p>
        </p:txBody>
      </p:sp>
      <p:sp>
        <p:nvSpPr>
          <p:cNvPr id="7" name="Oval 6"/>
          <p:cNvSpPr/>
          <p:nvPr/>
        </p:nvSpPr>
        <p:spPr>
          <a:xfrm>
            <a:off x="762000" y="2286000"/>
            <a:ext cx="2794000" cy="2794000"/>
          </a:xfrm>
          <a:prstGeom prst="ellipse">
            <a:avLst/>
          </a:prstGeom>
          <a:solidFill>
            <a:srgbClr val="C9A24A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86000" y="2286000"/>
            <a:ext cx="2794000" cy="2794000"/>
          </a:xfrm>
          <a:prstGeom prst="ellipse">
            <a:avLst/>
          </a:prstGeom>
          <a:solidFill>
            <a:srgbClr val="2D477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24000" y="3365500"/>
            <a:ext cx="2794000" cy="2794000"/>
          </a:xfrm>
          <a:prstGeom prst="ellipse">
            <a:avLst/>
          </a:prstGeom>
          <a:solidFill>
            <a:srgbClr val="3A5B8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1000" y="2540000"/>
            <a:ext cx="762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SET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1000" y="2743200"/>
            <a:ext cx="762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Description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07000" y="2540000"/>
            <a:ext cx="127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SET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07000" y="2743200"/>
            <a:ext cx="127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Description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1000" y="5651500"/>
            <a:ext cx="1016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SET 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1000" y="5854700"/>
            <a:ext cx="1016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Description 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59000" y="3175000"/>
            <a:ext cx="1524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0B1A33"/>
                </a:solidFill>
                <a:latin typeface="Noto Sans Mono"/>
              </a:rPr>
              <a:t>Overlap A∩B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97000" y="4572000"/>
            <a:ext cx="1524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0B1A33"/>
                </a:solidFill>
                <a:latin typeface="Noto Sans Mono"/>
              </a:rPr>
              <a:t>Overlap A∩C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1000" y="4572000"/>
            <a:ext cx="1524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0B1A33"/>
                </a:solidFill>
                <a:latin typeface="Noto Sans Mono"/>
              </a:rPr>
              <a:t>Overlap B∩C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59000" y="3937000"/>
            <a:ext cx="1524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F0ECE4"/>
                </a:solidFill>
                <a:latin typeface="Noto Sans Mono"/>
              </a:rPr>
              <a:t>Center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9000" y="4127500"/>
            <a:ext cx="1524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0">
                <a:solidFill>
                  <a:srgbClr val="F0ECE4"/>
                </a:solidFill>
                <a:latin typeface="Noto Sans"/>
              </a:rPr>
              <a:t>A∩B∩C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77000" y="2794000"/>
            <a:ext cx="5080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7000" y="2921000"/>
            <a:ext cx="4826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C9A24A"/>
                </a:solidFill>
                <a:latin typeface="Noto Sans Mono"/>
              </a:rPr>
              <a:t>01 · A × 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7000" y="3175000"/>
            <a:ext cx="4826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Overlap label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7000" y="3556000"/>
            <a:ext cx="4826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Description of the A × B intersection.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77000" y="4318000"/>
            <a:ext cx="5080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77000" y="4445000"/>
            <a:ext cx="4826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C9A24A"/>
                </a:solidFill>
                <a:latin typeface="Noto Sans Mono"/>
              </a:rPr>
              <a:t>02 · A × B × 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77000" y="4699000"/>
            <a:ext cx="4826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Center label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7000" y="5080000"/>
            <a:ext cx="4826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Description of the center intersection.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77000" y="5842000"/>
            <a:ext cx="5080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SLIDE 31 / 32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LAYOUT · VERTICAL BULLETS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1143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1397000"/>
            <a:ext cx="1092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B1A33"/>
                </a:solidFill>
                <a:latin typeface="Noto Sans Mono"/>
              </a:rPr>
              <a:t>FIVE MOVES · H1</a:t>
            </a:r>
          </a:p>
        </p:txBody>
      </p:sp>
      <p:sp>
        <p:nvSpPr>
          <p:cNvPr id="6" name="feinschliff-title-title"/>
          <p:cNvSpPr txBox="1"/>
          <p:nvPr/>
        </p:nvSpPr>
        <p:spPr>
          <a:xfrm>
            <a:off x="635000" y="1651000"/>
            <a:ext cx="10922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spc="-27">
                <a:solidFill>
                  <a:srgbClr val="0B1A33"/>
                </a:solidFill>
                <a:latin typeface="Noto Sans"/>
              </a:rPr>
              <a:t>Six numbered rows, plan-of-record style.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2286000"/>
            <a:ext cx="10922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Subtitle line 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" y="27940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" y="2946400"/>
            <a:ext cx="889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01 / 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51000" y="2921000"/>
            <a:ext cx="3429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Item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07000" y="2946400"/>
            <a:ext cx="6350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Description for item 01.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000" y="33020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000" y="3454400"/>
            <a:ext cx="889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02 / 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51000" y="3429000"/>
            <a:ext cx="3429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Item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07000" y="3454400"/>
            <a:ext cx="6350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Description for item 02.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000" y="38100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000" y="3962400"/>
            <a:ext cx="889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03 / 06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51000" y="3937000"/>
            <a:ext cx="3429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Item 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07000" y="3962400"/>
            <a:ext cx="6350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Description for item 03.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000" y="43180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000" y="4470400"/>
            <a:ext cx="889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04 / 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51000" y="4445000"/>
            <a:ext cx="3429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Item 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07000" y="4470400"/>
            <a:ext cx="6350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Description for item 04.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000" y="48260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000" y="4978400"/>
            <a:ext cx="889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05 / 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51000" y="4953000"/>
            <a:ext cx="3429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Item 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07000" y="4978400"/>
            <a:ext cx="6350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Description for item 05.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5000" y="53340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000" y="5486400"/>
            <a:ext cx="889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06 / 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51000" y="5461000"/>
            <a:ext cx="34290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spc="-19">
                <a:solidFill>
                  <a:srgbClr val="0B1A33"/>
                </a:solidFill>
                <a:latin typeface="Noto Sans Medium"/>
              </a:rPr>
              <a:t>Item 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07000" y="5486400"/>
            <a:ext cx="6350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D3A52"/>
                </a:solidFill>
                <a:latin typeface="Noto Sans"/>
              </a:rPr>
              <a:t>Description for item 06.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000" y="5842000"/>
            <a:ext cx="10922000" cy="6350"/>
          </a:xfrm>
          <a:prstGeom prst="rect">
            <a:avLst/>
          </a:prstGeom>
          <a:solidFill>
            <a:srgbClr val="D6D1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000" y="6019800"/>
            <a:ext cx="1092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Subtitle line two.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SLIDE 18 / 32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330200"/>
            <a:ext cx="1143000" cy="152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0" y="355600"/>
            <a:ext cx="4572000" cy="171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535D6D"/>
                </a:solidFill>
                <a:latin typeface="Noto Sans Mono"/>
              </a:rPr>
              <a:t>LAYOUT · WATERFALL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635000" y="1143000"/>
            <a:ext cx="508000" cy="254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000" y="1397000"/>
            <a:ext cx="1092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0B1A33"/>
                </a:solidFill>
                <a:latin typeface="Noto Sans Mono"/>
              </a:rPr>
              <a:t>LAYOUT · WATERFALL</a:t>
            </a:r>
          </a:p>
        </p:txBody>
      </p:sp>
      <p:sp>
        <p:nvSpPr>
          <p:cNvPr id="6" name="feinschliff-title-title"/>
          <p:cNvSpPr txBox="1"/>
          <p:nvPr/>
        </p:nvSpPr>
        <p:spPr>
          <a:xfrm>
            <a:off x="635000" y="1651000"/>
            <a:ext cx="10922000" cy="317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spc="-27">
                <a:solidFill>
                  <a:srgbClr val="0B1A33"/>
                </a:solidFill>
                <a:latin typeface="Noto Sans"/>
              </a:rPr>
              <a:t>Headline takeaway about the bridge.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" y="2667000"/>
            <a:ext cx="1524000" cy="30480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000" y="2451100"/>
            <a:ext cx="1524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spc="112">
                <a:solidFill>
                  <a:srgbClr val="0B1A33"/>
                </a:solidFill>
                <a:latin typeface="Noto Sans Mono"/>
              </a:rPr>
              <a:t>13.4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5842000"/>
            <a:ext cx="1524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Base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09800" y="2667000"/>
            <a:ext cx="1524000" cy="3810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09800" y="2451100"/>
            <a:ext cx="1524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+0.6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09800" y="5842000"/>
            <a:ext cx="1524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Step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84600" y="2413000"/>
            <a:ext cx="1524000" cy="2540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84600" y="2197100"/>
            <a:ext cx="1524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+0.4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84600" y="5842000"/>
            <a:ext cx="1524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Step 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59400" y="2222500"/>
            <a:ext cx="1524000" cy="1905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59400" y="2006600"/>
            <a:ext cx="1524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+0.3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9400" y="5842000"/>
            <a:ext cx="1524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Step 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34200" y="2222500"/>
            <a:ext cx="1524000" cy="190500"/>
          </a:xfrm>
          <a:prstGeom prst="rect">
            <a:avLst/>
          </a:prstGeom>
          <a:solidFill>
            <a:srgbClr val="5A64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34200" y="2006600"/>
            <a:ext cx="1524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−0.3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34200" y="5842000"/>
            <a:ext cx="1524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Step 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09000" y="2413000"/>
            <a:ext cx="1524000" cy="127000"/>
          </a:xfrm>
          <a:prstGeom prst="rect">
            <a:avLst/>
          </a:prstGeom>
          <a:solidFill>
            <a:srgbClr val="5A64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9000" y="2197100"/>
            <a:ext cx="1524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spc="112">
                <a:solidFill>
                  <a:srgbClr val="8A6F2E"/>
                </a:solidFill>
                <a:latin typeface="Noto Sans Mono"/>
              </a:rPr>
              <a:t>−0.2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9000" y="5842000"/>
            <a:ext cx="1524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Step 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83800" y="2413000"/>
            <a:ext cx="1524000" cy="3302000"/>
          </a:xfrm>
          <a:prstGeom prst="rect">
            <a:avLst/>
          </a:prstGeom>
          <a:solidFill>
            <a:srgbClr val="C9A24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83800" y="2197100"/>
            <a:ext cx="1524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 spc="112">
                <a:solidFill>
                  <a:srgbClr val="0B1A33"/>
                </a:solidFill>
                <a:latin typeface="Noto Sans Mono"/>
              </a:rPr>
              <a:t>14.1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83800" y="5842000"/>
            <a:ext cx="1524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Net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000" y="6159500"/>
            <a:ext cx="10922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5A6478"/>
                </a:solidFill>
                <a:latin typeface="Noto Sans Mono"/>
              </a:rPr>
              <a:t>Source · placeholder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000" y="6350000"/>
            <a:ext cx="5080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JAN 2026 · SHOWCASE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0000" y="6350000"/>
            <a:ext cx="39370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</a:pPr>
            <a:r>
              <a:rPr sz="800" b="0">
                <a:solidFill>
                  <a:srgbClr val="2D3A52"/>
                </a:solidFill>
                <a:latin typeface="Noto Sans Mono"/>
              </a:rPr>
              <a:t>SLIDE 20 / 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Noto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