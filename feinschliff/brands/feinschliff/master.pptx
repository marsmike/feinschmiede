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FEINSCHLIFF. · SHOWCASE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292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3302000"/>
            <a:ext cx="1079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LAYOUT · TITLE ACCENT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3556000"/>
            <a:ext cx="10795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8000" b="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8000" b="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E3DED3"/>
                </a:solidFill>
                <a:latin typeface="Noto Sans Mono"/>
              </a:rPr>
              <a:t>FEINSCHLIFF. · SHOWCASE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2921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3302000"/>
            <a:ext cx="1079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C9A24A"/>
                </a:solidFill>
                <a:latin typeface="Noto Sans Mono"/>
              </a:rPr>
              <a:t>LAYOUT · TITLE 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3556000"/>
            <a:ext cx="10795000" cy="2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8000" b="0" spc="-280">
                <a:solidFill>
                  <a:srgbClr val="F0ECE4"/>
                </a:solidFill>
                <a:latin typeface="Noto Sans Light"/>
              </a:rPr>
              <a:t>Title slide,</a:t>
            </a:r>
          </a:p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8000" b="0" spc="-280">
                <a:solidFill>
                  <a:srgbClr val="F0ECE4"/>
                </a:solidFill>
                <a:latin typeface="Noto Sans Light"/>
              </a:rPr>
              <a:t>dark variant.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D3C5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D9D3C5"/>
                </a:solidFill>
                <a:latin typeface="Noto Sans Mono"/>
              </a:rPr>
              <a:t>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000" y="4064000"/>
            <a:ext cx="5207000" cy="2032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9000" y="4267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4457700"/>
            <a:ext cx="469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9" name="feinschliff-title-quote"/>
          <p:cNvSpPr txBox="1"/>
          <p:nvPr/>
        </p:nvSpPr>
        <p:spPr>
          <a:xfrm>
            <a:off x="889000" y="4648200"/>
            <a:ext cx="46990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0" spc="-105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4200" b="0" spc="-105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12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FULL-BLEED EDITORIAL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4699000"/>
            <a:ext cx="4826000" cy="15240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4927600"/>
            <a:ext cx="381000" cy="254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000" y="5054600"/>
            <a:ext cx="4445000" cy="469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FAF8F3"/>
                </a:solidFill>
                <a:latin typeface="Noto Sans Medium"/>
              </a:rPr>
              <a:t>And it's changing faster than we measured 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5651500"/>
            <a:ext cx="44450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A9BCD6"/>
                </a:solidFill>
                <a:latin typeface="Noto Sans"/>
              </a:rPr>
              <a:t>Lake Mead, 2023. Sediment line marks 1983 high-water.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MAY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9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292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3302000"/>
            <a:ext cx="1079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LAYOUT · CHAPTER ACCENT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3556000"/>
            <a:ext cx="76200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8000" b="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8000" b="0" spc="-280">
                <a:solidFill>
                  <a:srgbClr val="0B1A33"/>
                </a:solidFill>
                <a:latin typeface="Noto Sans Light"/>
              </a:rPr>
              <a:t>Chapter.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0" y="4572000"/>
            <a:ext cx="3302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95000"/>
              </a:lnSpc>
            </a:pPr>
            <a:r>
              <a:rPr sz="8000" b="0" spc="-280">
                <a:solidFill>
                  <a:srgbClr val="8A6F2E"/>
                </a:solidFill>
                <a:latin typeface="Noto Sans Light"/>
              </a:rPr>
              <a:t>01 / 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5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E3DED3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921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000" y="3302000"/>
            <a:ext cx="546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C9A24A"/>
                </a:solidFill>
                <a:latin typeface="Noto Sans Mono"/>
              </a:rPr>
              <a:t>LAYOUT · CHAPTER 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556000"/>
            <a:ext cx="5461000" cy="279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0" spc="-89">
                <a:solidFill>
                  <a:srgbClr val="F0ECE4"/>
                </a:solidFill>
                <a:latin typeface="Noto Sans Light"/>
              </a:rPr>
              <a:t>02</a:t>
            </a:r>
          </a:p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6000" b="0" spc="-89">
                <a:solidFill>
                  <a:srgbClr val="F0ECE4"/>
                </a:solidFill>
                <a:latin typeface="Noto Sans Light"/>
              </a:rPr>
              <a:t>Chapter</a:t>
            </a:r>
          </a:p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6000" b="0" spc="-89">
                <a:solidFill>
                  <a:srgbClr val="F0ECE4"/>
                </a:solidFill>
                <a:latin typeface="Noto Sans Light"/>
              </a:rPr>
              <a:t>&amp; Picture.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D3C5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D9D3C5"/>
                </a:solidFill>
                <a:latin typeface="Noto Sans Mono"/>
              </a:rPr>
              <a:t>SLIDE 6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79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LAYOUT · AGENDA</a:t>
            </a:r>
          </a:p>
        </p:txBody>
      </p:sp>
      <p:sp>
        <p:nvSpPr>
          <p:cNvPr id="6" name="feinschliff-title-sub"/>
          <p:cNvSpPr txBox="1"/>
          <p:nvPr/>
        </p:nvSpPr>
        <p:spPr>
          <a:xfrm>
            <a:off x="635000" y="1651000"/>
            <a:ext cx="10795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D3A52"/>
                </a:solidFill>
                <a:latin typeface="Noto Sans"/>
              </a:rPr>
              <a:t>Eight chapters across the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540000"/>
            <a:ext cx="5080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000" y="2654300"/>
            <a:ext cx="635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C9A24A"/>
                </a:solidFill>
                <a:latin typeface="Noto Sans Mono Medium"/>
              </a:rPr>
              <a:t>01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2590800"/>
            <a:ext cx="43815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B1A33"/>
                </a:solidFill>
                <a:latin typeface="Noto Sans SemiBold"/>
              </a:rPr>
              <a:t>Welcome &amp;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287020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Why we're here, what we'll decide.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7000" y="2540000"/>
            <a:ext cx="5080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7000" y="2654300"/>
            <a:ext cx="635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C9A24A"/>
                </a:solidFill>
                <a:latin typeface="Noto Sans Mono Medium"/>
              </a:rPr>
              <a:t>02 / 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5500" y="2590800"/>
            <a:ext cx="43815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B1A33"/>
                </a:solidFill>
                <a:latin typeface="Noto Sans SemiBold"/>
              </a:rPr>
              <a:t>Quarter in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5500" y="287020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Where the plan landed vs the bar.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49600"/>
            <a:ext cx="5080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263900"/>
            <a:ext cx="635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C9A24A"/>
                </a:solidFill>
                <a:latin typeface="Noto Sans Mono Medium"/>
              </a:rPr>
              <a:t>03 / 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3500" y="3200400"/>
            <a:ext cx="43815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B1A33"/>
                </a:solidFill>
                <a:latin typeface="Noto Sans SemiBold"/>
              </a:rPr>
              <a:t>Customer 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500" y="347980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Three accounts, three lessons.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7000" y="3149600"/>
            <a:ext cx="5080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7000" y="3263900"/>
            <a:ext cx="635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C9A24A"/>
                </a:solidFill>
                <a:latin typeface="Noto Sans Mono Medium"/>
              </a:rPr>
              <a:t>04 / 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5500" y="3200400"/>
            <a:ext cx="43815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B1A33"/>
                </a:solidFill>
                <a:latin typeface="Noto Sans SemiBold"/>
              </a:rPr>
              <a:t>Product 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5500" y="347980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Eighteen months, three workstreams.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759200"/>
            <a:ext cx="5080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0" y="3873500"/>
            <a:ext cx="635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C9A24A"/>
                </a:solidFill>
                <a:latin typeface="Noto Sans Mono Medium"/>
              </a:rPr>
              <a:t>05 / 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3810000"/>
            <a:ext cx="43815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B1A33"/>
                </a:solidFill>
                <a:latin typeface="Noto Sans SemiBold"/>
              </a:rPr>
              <a:t>Go-to-market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3500" y="408940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Pricing, packaging, motion.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77000" y="3759200"/>
            <a:ext cx="5080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7000" y="3873500"/>
            <a:ext cx="635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C9A24A"/>
                </a:solidFill>
                <a:latin typeface="Noto Sans Mono Medium"/>
              </a:rPr>
              <a:t>06 / 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5500" y="3810000"/>
            <a:ext cx="43815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B1A33"/>
                </a:solidFill>
                <a:latin typeface="Noto Sans SemiBold"/>
              </a:rPr>
              <a:t>People &amp; culture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5500" y="408940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Hiring plan, retention signals.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368800"/>
            <a:ext cx="5080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000" y="4483100"/>
            <a:ext cx="635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C9A24A"/>
                </a:solidFill>
                <a:latin typeface="Noto Sans Mono Medium"/>
              </a:rPr>
              <a:t>07 / 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33500" y="4419600"/>
            <a:ext cx="43815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B1A33"/>
                </a:solidFill>
                <a:latin typeface="Noto Sans SemiBold"/>
              </a:rPr>
              <a:t>Risk register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469900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What could derail the plan.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77000" y="4368800"/>
            <a:ext cx="5080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7000" y="4483100"/>
            <a:ext cx="635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C9A24A"/>
                </a:solidFill>
                <a:latin typeface="Noto Sans Mono Medium"/>
              </a:rPr>
              <a:t>08 /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5500" y="4419600"/>
            <a:ext cx="43815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B1A33"/>
                </a:solidFill>
                <a:latin typeface="Noto Sans SemiBold"/>
              </a:rPr>
              <a:t>Decisions &amp; next steps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5500" y="4699000"/>
            <a:ext cx="4381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What we commit to before EOM.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4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TODAY · 4 ACTS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635000"/>
            <a:ext cx="5207000" cy="558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1524000"/>
            <a:ext cx="546100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7" name="feinschliff-title-title"/>
          <p:cNvSpPr txBox="1"/>
          <p:nvPr/>
        </p:nvSpPr>
        <p:spPr>
          <a:xfrm>
            <a:off x="635000" y="1778000"/>
            <a:ext cx="5461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Today.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2921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" y="3035300"/>
            <a:ext cx="635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C9A24A"/>
                </a:solidFill>
                <a:latin typeface="Noto Sans Mono Medium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2971800"/>
            <a:ext cx="47625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B1A33"/>
                </a:solidFill>
                <a:latin typeface="Noto Sans SemiBold"/>
              </a:rP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325120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Reservoirs, drawn to scale, the cycle as a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56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3670300"/>
            <a:ext cx="635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C9A24A"/>
                </a:solidFill>
                <a:latin typeface="Noto Sans Mono Medium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3606800"/>
            <a:ext cx="47625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B1A33"/>
                </a:solidFill>
                <a:latin typeface="Noto Sans SemiBold"/>
              </a:rPr>
              <a:t>Stress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500" y="388620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It's accelerating faster than we measured for.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305300"/>
            <a:ext cx="635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C9A24A"/>
                </a:solidFill>
                <a:latin typeface="Noto Sans Mono Medium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500" y="4241800"/>
            <a:ext cx="47625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B1A33"/>
                </a:solidFill>
                <a:latin typeface="Noto Sans SemiBold"/>
              </a:rPr>
              <a:t>Pathways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3500" y="452120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Where each drop goes.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826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4940300"/>
            <a:ext cx="635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C9A24A"/>
                </a:solidFill>
                <a:latin typeface="Noto Sans Mono Medium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500" y="4876800"/>
            <a:ext cx="4762500" cy="24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0B1A33"/>
                </a:solidFill>
                <a:latin typeface="Noto Sans SemiBold"/>
              </a:rPr>
              <a:t>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3500" y="5156200"/>
            <a:ext cx="47625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Three levers that work.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MAY 2026 · SHOWCASE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2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LAYOUT · EXECUTIVE SUMMARY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One-line summary statement that frames the entire deck.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286000"/>
            <a:ext cx="1092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Two-to-three-sentence paragraph that elaborates on the headline and points to the supporting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3175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" y="3365500"/>
            <a:ext cx="5334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000" y="3543300"/>
            <a:ext cx="76200" cy="762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7400" y="34544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Insight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" y="3708400"/>
            <a:ext cx="508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insight 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025900"/>
            <a:ext cx="76200" cy="762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400" y="39370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Insight 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400" y="4191000"/>
            <a:ext cx="508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insight 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508500"/>
            <a:ext cx="76200" cy="762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7400" y="44196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Insight 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" y="4673600"/>
            <a:ext cx="508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insight 3.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991100"/>
            <a:ext cx="76200" cy="762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400" y="4902200"/>
            <a:ext cx="508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Insight 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400" y="5156200"/>
            <a:ext cx="508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insight 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0" y="3175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655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0" y="3543300"/>
            <a:ext cx="76200" cy="762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2400" y="3454400"/>
            <a:ext cx="4953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Next step 1.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2400" y="3708400"/>
            <a:ext cx="495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next step 1.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4025900"/>
            <a:ext cx="76200" cy="762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2400" y="3937000"/>
            <a:ext cx="4953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Next step 2.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2400" y="4191000"/>
            <a:ext cx="495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next step 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508500"/>
            <a:ext cx="76200" cy="762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2400" y="4419600"/>
            <a:ext cx="4953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Next step 3.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2400" y="4673600"/>
            <a:ext cx="495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next step 3.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991100"/>
            <a:ext cx="76200" cy="762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2400" y="4902200"/>
            <a:ext cx="4953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Next step 4.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2400" y="5156200"/>
            <a:ext cx="495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next step 4.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461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91000" y="5461000"/>
            <a:ext cx="6350" cy="508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47000" y="5461000"/>
            <a:ext cx="6350" cy="508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000" y="5524500"/>
            <a:ext cx="190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0" spc="-179">
                <a:solidFill>
                  <a:srgbClr val="0B1A33"/>
                </a:solidFill>
                <a:latin typeface="Noto Sans Light"/>
              </a:rPr>
              <a:t>+5.1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0000" y="5676900"/>
            <a:ext cx="381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D3A52"/>
                </a:solidFill>
                <a:latin typeface="Noto Sans Light"/>
              </a:rPr>
              <a:t>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48000" y="5676900"/>
            <a:ext cx="1143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KPI LABEL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45000" y="5524500"/>
            <a:ext cx="190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0" spc="-179">
                <a:solidFill>
                  <a:srgbClr val="0B1A33"/>
                </a:solidFill>
                <a:latin typeface="Noto Sans Light"/>
              </a:rPr>
              <a:t>2.4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0000" y="5676900"/>
            <a:ext cx="381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D3A52"/>
                </a:solidFill>
                <a:latin typeface="Noto Sans Light"/>
              </a:rPr>
              <a:t>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5676900"/>
            <a:ext cx="88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KPI LABEL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1000" y="5524500"/>
            <a:ext cx="1905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0" spc="-179">
                <a:solidFill>
                  <a:srgbClr val="0B1A33"/>
                </a:solidFill>
                <a:latin typeface="Noto Sans Light"/>
              </a:rPr>
              <a:t>37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06000" y="5676900"/>
            <a:ext cx="381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D3A52"/>
                </a:solidFill>
                <a:latin typeface="Noto Sans Light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14000" y="5676900"/>
            <a:ext cx="1143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KPI LABEL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26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ACTION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96">
                <a:solidFill>
                  <a:srgbClr val="2D3A52"/>
                </a:solidFill>
                <a:latin typeface="Noto Sans Mono"/>
              </a:rPr>
              <a:t>SO WHAT?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108">
                <a:solidFill>
                  <a:srgbClr val="0B1A33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6" name="feinschliff-title-act-title"/>
          <p:cNvSpPr txBox="1"/>
          <p:nvPr/>
        </p:nvSpPr>
        <p:spPr>
          <a:xfrm>
            <a:off x="635000" y="1651000"/>
            <a:ext cx="10287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spc="-56">
                <a:solidFill>
                  <a:srgbClr val="0B1A33"/>
                </a:solidFill>
                <a:latin typeface="Noto Sans"/>
              </a:rPr>
              <a:t>Full-sentence takeaway that states the recommendation directly.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3302000"/>
            <a:ext cx="355600" cy="127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000" y="3454400"/>
            <a:ext cx="4826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SUPPORTING NARRATIVE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708400"/>
            <a:ext cx="49530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Supporting paragraph that explains the evidence behind the recommendation.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3429000"/>
            <a:ext cx="2413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0" spc="-179">
                <a:solidFill>
                  <a:srgbClr val="0B1A33"/>
                </a:solidFill>
                <a:latin typeface="Noto Sans Light"/>
              </a:rPr>
              <a:t>+18%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4191000"/>
            <a:ext cx="2413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80">
                <a:solidFill>
                  <a:srgbClr val="2D3A52"/>
                </a:solidFill>
                <a:latin typeface="Noto Sans Mono"/>
              </a:rPr>
              <a:t>KPI LABEL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0" y="4394200"/>
            <a:ext cx="2413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A6F2E"/>
                </a:solidFill>
                <a:latin typeface="Noto Sans Mono"/>
              </a:rPr>
              <a:t>Caption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3429000"/>
            <a:ext cx="2413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0" spc="-179">
                <a:solidFill>
                  <a:srgbClr val="0B1A33"/>
                </a:solidFill>
                <a:latin typeface="Noto Sans Light"/>
              </a:rPr>
              <a:t>2.3×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4191000"/>
            <a:ext cx="2413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80">
                <a:solidFill>
                  <a:srgbClr val="2D3A52"/>
                </a:solidFill>
                <a:latin typeface="Noto Sans Mono"/>
              </a:rPr>
              <a:t>KPI LABEL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394200"/>
            <a:ext cx="2413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A6F2E"/>
                </a:solidFill>
                <a:latin typeface="Noto Sans Mono"/>
              </a:rPr>
              <a:t>Caption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5969000"/>
            <a:ext cx="1092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Source · placeholder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16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E3DED3"/>
                </a:solidFill>
                <a:latin typeface="Noto Sans Mono"/>
              </a:rPr>
              <a:t>LAYOUT ·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143000"/>
            <a:ext cx="1092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96">
                <a:solidFill>
                  <a:srgbClr val="A9BCD6"/>
                </a:solidFill>
                <a:latin typeface="Noto Sans Mono"/>
              </a:rPr>
              <a:t>THREE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108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7" name="feinschliff-title-act-title"/>
          <p:cNvSpPr txBox="1"/>
          <p:nvPr/>
        </p:nvSpPr>
        <p:spPr>
          <a:xfrm>
            <a:off x="635000" y="1651000"/>
            <a:ext cx="10287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spc="-56">
                <a:solidFill>
                  <a:srgbClr val="F0ECE4"/>
                </a:solidFill>
                <a:latin typeface="Noto Sans"/>
              </a:rPr>
              <a:t>Three things to remember from this section.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2921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" y="3175000"/>
            <a:ext cx="2413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3429000"/>
            <a:ext cx="2413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F0ECE4"/>
                </a:solidFill>
                <a:latin typeface="Noto Sans Medium"/>
              </a:rPr>
              <a:t>Takeaway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4064000"/>
            <a:ext cx="2413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A9BCD6"/>
                </a:solidFill>
                <a:latin typeface="Noto Sans"/>
              </a:rPr>
              <a:t>One- or two-sentence elaboration of the first takeaway.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969000"/>
            <a:ext cx="2413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D3C5"/>
                </a:solidFill>
                <a:latin typeface="Noto Sans Mono"/>
              </a:rPr>
              <a:t>Owner · Role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56000" y="2921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6000" y="3175000"/>
            <a:ext cx="2413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6000" y="3429000"/>
            <a:ext cx="2413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F0ECE4"/>
                </a:solidFill>
                <a:latin typeface="Noto Sans Medium"/>
              </a:rPr>
              <a:t>Takeaway 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6000" y="4064000"/>
            <a:ext cx="2413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A9BCD6"/>
                </a:solidFill>
                <a:latin typeface="Noto Sans"/>
              </a:rPr>
              <a:t>One- or two-sentence elaboration of the second takeaway.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6000" y="5969000"/>
            <a:ext cx="2413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D3C5"/>
                </a:solidFill>
                <a:latin typeface="Noto Sans Mono"/>
              </a:rPr>
              <a:t>Owner · Role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7000" y="2921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7000" y="3175000"/>
            <a:ext cx="2413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3429000"/>
            <a:ext cx="2413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F0ECE4"/>
                </a:solidFill>
                <a:latin typeface="Noto Sans Medium"/>
              </a:rPr>
              <a:t>Takeaway 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0" y="4064000"/>
            <a:ext cx="2413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A9BCD6"/>
                </a:solidFill>
                <a:latin typeface="Noto Sans"/>
              </a:rPr>
              <a:t>One- or two-sentence elaboration of the third takeaway.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0" y="5969000"/>
            <a:ext cx="2413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D3C5"/>
                </a:solidFill>
                <a:latin typeface="Noto Sans Mono"/>
              </a:rPr>
              <a:t>Owner · Role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98000" y="2921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98000" y="3175000"/>
            <a:ext cx="2413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8000" y="3429000"/>
            <a:ext cx="2413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F0ECE4"/>
                </a:solidFill>
                <a:latin typeface="Noto Sans Medium"/>
              </a:rPr>
              <a:t>Ship weekly.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8000" y="4064000"/>
            <a:ext cx="2413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8000" y="5969000"/>
            <a:ext cx="2413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D3C5"/>
                </a:solidFill>
                <a:latin typeface="Noto Sans Mono"/>
              </a:rPr>
              <a:t>OWNER · ENG DIRECTOR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D3C5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D9D3C5"/>
                </a:solidFill>
                <a:latin typeface="Noto Sans Mono"/>
              </a:rPr>
              <a:t>SLIDE 25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96">
                <a:solidFill>
                  <a:srgbClr val="2D3A52"/>
                </a:solidFill>
                <a:latin typeface="Noto Sans Mono"/>
              </a:rPr>
              <a:t>LAYOUT ·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651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108">
                <a:solidFill>
                  <a:srgbClr val="C9A24A"/>
                </a:solidFill>
                <a:latin typeface="Noto Sans Mono"/>
              </a:rPr>
              <a:t>THREE MOVES TO CLOSE THE GAP</a:t>
            </a:r>
          </a:p>
        </p:txBody>
      </p:sp>
      <p:sp>
        <p:nvSpPr>
          <p:cNvPr id="7" name="feinschliff-title-act-title"/>
          <p:cNvSpPr txBox="1"/>
          <p:nvPr/>
        </p:nvSpPr>
        <p:spPr>
          <a:xfrm>
            <a:off x="635000" y="1905000"/>
            <a:ext cx="109220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spc="-56">
                <a:solidFill>
                  <a:srgbClr val="0B1A33"/>
                </a:solidFill>
                <a:latin typeface="Noto Sans"/>
              </a:rPr>
              <a:t>Close the 12-point margin gap with three focused bets.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75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" y="3429000"/>
            <a:ext cx="3429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MOVE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3683000"/>
            <a:ext cx="3429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Consolidate tooling 30%.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705" y="4572000"/>
            <a:ext cx="3429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• Audit license sprawl across all functions.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705" y="4775200"/>
            <a:ext cx="3429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• Pick one platform per category.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705" y="4978400"/>
            <a:ext cx="3429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• Renegotiate top-10 vendor contracts.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5842000"/>
            <a:ext cx="3429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C9A24A"/>
                </a:solidFill>
                <a:latin typeface="Noto Sans Medium"/>
              </a:rPr>
              <a:t>+$2.1M ARR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6134100"/>
            <a:ext cx="3429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FINANCE · CTO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175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429000"/>
            <a:ext cx="3429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MOVE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683000"/>
            <a:ext cx="3429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Re-onboard top 50 accounts.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7705" y="4572000"/>
            <a:ext cx="3429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• Assign named CS lead per account.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7705" y="4775200"/>
            <a:ext cx="3429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• Quarterly business reviews on cadence.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7705" y="4978400"/>
            <a:ext cx="3429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• Co-built roadmap for top 10.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842000"/>
            <a:ext cx="3429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C9A24A"/>
                </a:solidFill>
                <a:latin typeface="Noto Sans Medium"/>
              </a:rPr>
              <a:t>−5% churn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134100"/>
            <a:ext cx="3429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CS · CRO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9000" y="3175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9000" y="3429000"/>
            <a:ext cx="3429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MOVE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9000" y="3683000"/>
            <a:ext cx="3429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Sunset three weak SKUs.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4705" y="4572000"/>
            <a:ext cx="3429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• Migrate affected customers to flagship.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4705" y="4775200"/>
            <a:ext cx="3429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• Refund plus 12-month flagship credit.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4705" y="4978400"/>
            <a:ext cx="3429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• 60-day sunset notice.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9000" y="5842000"/>
            <a:ext cx="3429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C9A24A"/>
                </a:solidFill>
                <a:latin typeface="Noto Sans Medium"/>
              </a:rPr>
              <a:t>+$0.8M margin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9000" y="6134100"/>
            <a:ext cx="3429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PRODUCT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23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96">
                <a:solidFill>
                  <a:srgbClr val="2D3A52"/>
                </a:solidFill>
                <a:latin typeface="Noto Sans Mono"/>
              </a:rPr>
              <a:t>LAYOUT · NEXT-STEPS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651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108">
                <a:solidFill>
                  <a:srgbClr val="C9A24A"/>
                </a:solidFill>
                <a:latin typeface="Noto Sans Mono"/>
              </a:rPr>
              <a:t>WHAT HAPPENS MONDAY</a:t>
            </a:r>
          </a:p>
        </p:txBody>
      </p:sp>
      <p:sp>
        <p:nvSpPr>
          <p:cNvPr id="7" name="feinschliff-title-act-title"/>
          <p:cNvSpPr txBox="1"/>
          <p:nvPr/>
        </p:nvSpPr>
        <p:spPr>
          <a:xfrm>
            <a:off x="635000" y="1905000"/>
            <a:ext cx="109220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spc="-56">
                <a:solidFill>
                  <a:srgbClr val="0B1A33"/>
                </a:solidFill>
                <a:latin typeface="Noto Sans"/>
              </a:rPr>
              <a:t>Five actions across the next 60 days.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75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" y="3263900"/>
            <a:ext cx="165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C9A24A"/>
                </a:solidFill>
                <a:latin typeface="Noto Sans Medium"/>
              </a:rPr>
              <a:t>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3000" y="3289300"/>
            <a:ext cx="5969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License sprawl across all functions.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9000" y="3263900"/>
            <a:ext cx="3048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9000" y="3429000"/>
            <a:ext cx="3048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CFO · COO · Week of 16 Sep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619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3708400"/>
            <a:ext cx="165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C9A24A"/>
                </a:solidFill>
                <a:latin typeface="Noto Sans Medium"/>
              </a:rPr>
              <a:t>Hire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3000" y="3733800"/>
            <a:ext cx="5969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Director of Customer Success (named-account model).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9000" y="3708400"/>
            <a:ext cx="3048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PEOPLE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9000" y="3873500"/>
            <a:ext cx="3048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CRO · People · Offer by 2026-10-15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152900"/>
            <a:ext cx="165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C9A24A"/>
                </a:solidFill>
                <a:latin typeface="Noto Sans Medium"/>
              </a:rPr>
              <a:t>Communicate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13000" y="4178300"/>
            <a:ext cx="5969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SKU sunset notice to affected customers.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9000" y="4152900"/>
            <a:ext cx="3048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9000" y="4318000"/>
            <a:ext cx="3048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PRODUCT · CS · By 2026-10-01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50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0" y="4597400"/>
            <a:ext cx="165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C9A24A"/>
                </a:solidFill>
                <a:latin typeface="Noto Sans Medium"/>
              </a:rPr>
              <a:t>Approve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3000" y="4622800"/>
            <a:ext cx="5969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Migration credit budget.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9000" y="4597400"/>
            <a:ext cx="3048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FINANCE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9000" y="4762500"/>
            <a:ext cx="3048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CFO · CEO · Board meeting 2026-10-22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95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000" y="5041900"/>
            <a:ext cx="165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C9A24A"/>
                </a:solidFill>
                <a:latin typeface="Noto Sans Medium"/>
              </a:rPr>
              <a:t>Launch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13000" y="5067300"/>
            <a:ext cx="5969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Account-level QBR cadence with top 50.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9000" y="5041900"/>
            <a:ext cx="3048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GTM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9000" y="5207000"/>
            <a:ext cx="3048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CS · CRO · First QBRs in Nov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19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2-COLUMN CARDS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79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795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Two columns.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921000"/>
            <a:ext cx="5308600" cy="304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3175000"/>
            <a:ext cx="48006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C9A24A"/>
                </a:solidFill>
                <a:latin typeface="Noto Sans Mono"/>
              </a:rPr>
              <a:t>01 · COLUMN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3454400"/>
            <a:ext cx="48006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spc="-21">
                <a:solidFill>
                  <a:srgbClr val="0B1A33"/>
                </a:solidFill>
                <a:latin typeface="Noto Sans Medium"/>
              </a:rPr>
              <a:t>Lead sentence for the first column.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" y="4419600"/>
            <a:ext cx="48006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D3A52"/>
                </a:solidFill>
                <a:latin typeface="Noto Sans"/>
              </a:rPr>
              <a:t>Supporting detail line two.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8400" y="2921000"/>
            <a:ext cx="5308600" cy="304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2400" y="3175000"/>
            <a:ext cx="48006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C9A24A"/>
                </a:solidFill>
                <a:latin typeface="Noto Sans Mono"/>
              </a:rPr>
              <a:t>02 · COLUMN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2400" y="3454400"/>
            <a:ext cx="48006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spc="-21">
                <a:solidFill>
                  <a:srgbClr val="0B1A33"/>
                </a:solidFill>
                <a:latin typeface="Noto Sans Medium"/>
              </a:rPr>
              <a:t>Lead sentence for the second column.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2400" y="4419600"/>
            <a:ext cx="48006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D3A52"/>
                </a:solidFill>
                <a:latin typeface="Noto Sans"/>
              </a:rPr>
              <a:t>Supporting detail line two.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8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3-COLUMN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79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795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Three columns.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3175000"/>
            <a:ext cx="31623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3429000"/>
            <a:ext cx="31623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spc="-21">
                <a:solidFill>
                  <a:srgbClr val="0B1A33"/>
                </a:solidFill>
                <a:latin typeface="Noto Sans Medium"/>
              </a:rPr>
              <a:t>Column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4318000"/>
            <a:ext cx="31623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D3A52"/>
                </a:solidFill>
                <a:latin typeface="Noto Sans"/>
              </a:rPr>
              <a:t>Description for the first column.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1500" y="3175000"/>
            <a:ext cx="31623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1500" y="3429000"/>
            <a:ext cx="31623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spc="-21">
                <a:solidFill>
                  <a:srgbClr val="0B1A33"/>
                </a:solidFill>
                <a:latin typeface="Noto Sans Medium"/>
              </a:rPr>
              <a:t>Column two.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1500" y="4318000"/>
            <a:ext cx="31623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D3A52"/>
                </a:solidFill>
                <a:latin typeface="Noto Sans"/>
              </a:rPr>
              <a:t>Description for the second column.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0" y="3175000"/>
            <a:ext cx="31623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0" y="3429000"/>
            <a:ext cx="3162300" cy="825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spc="-21">
                <a:solidFill>
                  <a:srgbClr val="0B1A33"/>
                </a:solidFill>
                <a:latin typeface="Noto Sans Medium"/>
              </a:rPr>
              <a:t>Column three.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0" y="4318000"/>
            <a:ext cx="31623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D3A52"/>
                </a:solidFill>
                <a:latin typeface="Noto Sans"/>
              </a:rPr>
              <a:t>Description for the third column.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9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4-COLUMN CARDS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79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795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Four columns.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921000"/>
            <a:ext cx="2501900" cy="304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3175000"/>
            <a:ext cx="19939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C9A24A"/>
                </a:solidFill>
                <a:latin typeface="Noto Sans Mono"/>
              </a:rPr>
              <a:t>Q1 ·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3454400"/>
            <a:ext cx="19939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-16">
                <a:solidFill>
                  <a:srgbClr val="0B1A33"/>
                </a:solidFill>
                <a:latin typeface="Noto Sans Medium"/>
              </a:rPr>
              <a:t>Lead sentence for phase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" y="4419600"/>
            <a:ext cx="19939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D3A52"/>
                </a:solidFill>
                <a:latin typeface="Noto Sans"/>
              </a:rPr>
              <a:t>Supporting detail.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1700" y="2921000"/>
            <a:ext cx="2501900" cy="304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5700" y="3175000"/>
            <a:ext cx="19939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C9A24A"/>
                </a:solidFill>
                <a:latin typeface="Noto Sans Mono"/>
              </a:rPr>
              <a:t>Q2 · 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5700" y="3454400"/>
            <a:ext cx="19939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-16">
                <a:solidFill>
                  <a:srgbClr val="0B1A33"/>
                </a:solidFill>
                <a:latin typeface="Noto Sans Medium"/>
              </a:rPr>
              <a:t>Lead sentence for phase two.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5700" y="4419600"/>
            <a:ext cx="19939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D3A52"/>
                </a:solidFill>
                <a:latin typeface="Noto Sans"/>
              </a:rPr>
              <a:t>Supporting detail.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2921000"/>
            <a:ext cx="2501900" cy="304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2400" y="3175000"/>
            <a:ext cx="19939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C9A24A"/>
                </a:solidFill>
                <a:latin typeface="Noto Sans Mono"/>
              </a:rPr>
              <a:t>Q3 · PHASE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2400" y="3454400"/>
            <a:ext cx="19939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-16">
                <a:solidFill>
                  <a:srgbClr val="0B1A33"/>
                </a:solidFill>
                <a:latin typeface="Noto Sans Medium"/>
              </a:rPr>
              <a:t>Lead sentence for phase three.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2400" y="4419600"/>
            <a:ext cx="19939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D3A52"/>
                </a:solidFill>
                <a:latin typeface="Noto Sans"/>
              </a:rPr>
              <a:t>Supporting detail.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5100" y="2921000"/>
            <a:ext cx="2501900" cy="304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9100" y="3175000"/>
            <a:ext cx="19939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C9A24A"/>
                </a:solidFill>
                <a:latin typeface="Noto Sans Mono"/>
              </a:rPr>
              <a:t>Q4 · PHASE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9100" y="3454400"/>
            <a:ext cx="19939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-16">
                <a:solidFill>
                  <a:srgbClr val="0B1A33"/>
                </a:solidFill>
                <a:latin typeface="Noto Sans Medium"/>
              </a:rPr>
              <a:t>Lead sentence for phase four.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9100" y="4419600"/>
            <a:ext cx="19939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D3A52"/>
                </a:solidFill>
                <a:latin typeface="Noto Sans"/>
              </a:rPr>
              <a:t>Supporting detail.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10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VERTICAL BULLETS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FIVE MOVES · H1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Six numbered rows, plan-of-record style.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286000"/>
            <a:ext cx="1092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Subtitle line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279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" y="2946400"/>
            <a:ext cx="88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01 /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1000" y="2921000"/>
            <a:ext cx="3429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Item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7000" y="2946400"/>
            <a:ext cx="635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for item 01.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02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3454400"/>
            <a:ext cx="88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02 / 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1000" y="3429000"/>
            <a:ext cx="3429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Item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7000" y="3454400"/>
            <a:ext cx="635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for item 02.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810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962400"/>
            <a:ext cx="88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03 / 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1000" y="3937000"/>
            <a:ext cx="3429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Item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7000" y="3962400"/>
            <a:ext cx="635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for item 03.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318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4470400"/>
            <a:ext cx="88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04 / 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1000" y="4445000"/>
            <a:ext cx="3429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Item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07000" y="4470400"/>
            <a:ext cx="635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for item 04.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826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000" y="4978400"/>
            <a:ext cx="88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05 / 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51000" y="4953000"/>
            <a:ext cx="3429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Item 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7000" y="4978400"/>
            <a:ext cx="635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for item 05.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33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000" y="5486400"/>
            <a:ext cx="88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06 / 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51000" y="5461000"/>
            <a:ext cx="3429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Item 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07000" y="5486400"/>
            <a:ext cx="6350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for item 06.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000" y="60198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Subtitle line two.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18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HORIZONTAL BULLETS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THREE FORCES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Three structured takeaways across one 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1000" y="2667000"/>
            <a:ext cx="6350" cy="3302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0" y="2667000"/>
            <a:ext cx="6350" cy="3302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" y="2794000"/>
            <a:ext cx="330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3048000"/>
            <a:ext cx="330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Heading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135" y="3810000"/>
            <a:ext cx="3276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2D3A52"/>
                </a:solidFill>
                <a:latin typeface="Noto Sans"/>
              </a:rPr>
              <a:t>• Bullet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2135" y="4089400"/>
            <a:ext cx="3276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2D3A52"/>
                </a:solidFill>
                <a:latin typeface="Noto Sans"/>
              </a:rPr>
              <a:t>• Bullet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2135" y="4368800"/>
            <a:ext cx="3276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2D3A52"/>
                </a:solidFill>
                <a:latin typeface="Noto Sans"/>
              </a:rPr>
              <a:t>• Bullet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5000" y="2794000"/>
            <a:ext cx="330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5000" y="3048000"/>
            <a:ext cx="330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Heading 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535" y="3810000"/>
            <a:ext cx="325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2D3A52"/>
                </a:solidFill>
                <a:latin typeface="Noto Sans"/>
              </a:rPr>
              <a:t>• Bullet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535" y="4089400"/>
            <a:ext cx="325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2D3A52"/>
                </a:solidFill>
                <a:latin typeface="Noto Sans"/>
              </a:rPr>
              <a:t>• Bullet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535" y="4368800"/>
            <a:ext cx="325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2D3A52"/>
                </a:solidFill>
                <a:latin typeface="Noto Sans"/>
              </a:rPr>
              <a:t>• Bullet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0" y="2794000"/>
            <a:ext cx="330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5000" y="3048000"/>
            <a:ext cx="330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Heading 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7534" y="3810000"/>
            <a:ext cx="325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2D3A52"/>
                </a:solidFill>
                <a:latin typeface="Noto Sans"/>
              </a:rPr>
              <a:t>• Bullet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7534" y="4089400"/>
            <a:ext cx="325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2D3A52"/>
                </a:solidFill>
                <a:latin typeface="Noto Sans"/>
              </a:rPr>
              <a:t>• Bullet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7534" y="4368800"/>
            <a:ext cx="325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2D3A52"/>
                </a:solidFill>
                <a:latin typeface="Noto Sans"/>
              </a:rPr>
              <a:t>• Bullet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17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solidFill>
            <a:srgbClr val="F4F1E8"/>
          </a:solidFill>
          <a:ln w="9525">
            <a:solidFill>
              <a:srgbClr val="D6D1C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1270000"/>
            <a:ext cx="49530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000" y="1651000"/>
            <a:ext cx="5207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905000"/>
            <a:ext cx="5207000" cy="241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0" spc="-89">
                <a:solidFill>
                  <a:srgbClr val="0B1A33"/>
                </a:solidFill>
                <a:latin typeface="Noto Sans Light"/>
              </a:rPr>
              <a:t>Text paired with a picture.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4572000"/>
            <a:ext cx="49530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Body copy on one side, image frame on the other. Replace via /deck.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638800"/>
            <a:ext cx="1841500" cy="431800"/>
          </a:xfrm>
          <a:prstGeom prst="rect">
            <a:avLst/>
          </a:prstGeom>
          <a:solidFill>
            <a:srgbClr val="C9A24A"/>
          </a:solidFill>
          <a:ln w="6350">
            <a:solidFill>
              <a:srgbClr val="C9A24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5759450"/>
            <a:ext cx="1651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B1A33"/>
                </a:solidFill>
                <a:latin typeface="Noto Sans Medium"/>
              </a:rPr>
              <a:t>Read the brief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3500" y="5638800"/>
            <a:ext cx="1524000" cy="431800"/>
          </a:xfrm>
          <a:prstGeom prst="rect">
            <a:avLst/>
          </a:prstGeom>
          <a:solidFill>
            <a:srgbClr val="FAF8F3"/>
          </a:solidFill>
          <a:ln w="6350">
            <a:solidFill>
              <a:srgbClr val="0B1A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6700" y="5759450"/>
            <a:ext cx="1270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11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254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einschliff-title-quote"/>
          <p:cNvSpPr txBox="1"/>
          <p:nvPr/>
        </p:nvSpPr>
        <p:spPr>
          <a:xfrm>
            <a:off x="528320" y="2921000"/>
            <a:ext cx="8890000" cy="215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0" spc="-105">
                <a:solidFill>
                  <a:srgbClr val="0B1A33"/>
                </a:solidFill>
                <a:latin typeface="Noto Sans Light"/>
              </a:rPr>
              <a:t>“A short, memorable line that earns its full slide.”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5334000"/>
            <a:ext cx="8890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 Mono"/>
              </a:rPr>
              <a:t>ATTRIBUTION · PLACEHOLDER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15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KPI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39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651000"/>
            <a:ext cx="10795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905000"/>
            <a:ext cx="10795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Headline numbers.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3429000"/>
            <a:ext cx="6350" cy="1905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000" y="5327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9150" y="3429000"/>
            <a:ext cx="6350" cy="1905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9000" y="3657600"/>
            <a:ext cx="15875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0" spc="-179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0000" y="3975100"/>
            <a:ext cx="571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D3A52"/>
                </a:solidFill>
                <a:latin typeface="Noto Sans Light"/>
              </a:rPr>
              <a:t>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4597400"/>
            <a:ext cx="222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80">
                <a:solidFill>
                  <a:srgbClr val="2D3A52"/>
                </a:solidFill>
                <a:latin typeface="Noto Sans Mono"/>
              </a:rPr>
              <a:t>METRIC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4800600"/>
            <a:ext cx="2222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A6F2E"/>
                </a:solidFill>
                <a:latin typeface="Noto Sans Mono"/>
              </a:rPr>
              <a:t>Caption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65500" y="5327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9650" y="3429000"/>
            <a:ext cx="6350" cy="1905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9500" y="3657600"/>
            <a:ext cx="15875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0" spc="-179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0500" y="3975100"/>
            <a:ext cx="571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D3A52"/>
                </a:solidFill>
                <a:latin typeface="Noto Sans Light"/>
              </a:rPr>
              <a:t> bn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9500" y="4597400"/>
            <a:ext cx="222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80">
                <a:solidFill>
                  <a:srgbClr val="2D3A52"/>
                </a:solidFill>
                <a:latin typeface="Noto Sans Mono"/>
              </a:rPr>
              <a:t>METRIC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9500" y="4800600"/>
            <a:ext cx="2222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A6F2E"/>
                </a:solidFill>
                <a:latin typeface="Noto Sans Mono"/>
              </a:rPr>
              <a:t>Caption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0" y="5327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20150" y="3429000"/>
            <a:ext cx="6350" cy="1905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0000" y="3657600"/>
            <a:ext cx="15875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0" spc="-179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3975100"/>
            <a:ext cx="571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D3A52"/>
                </a:solidFill>
                <a:latin typeface="Noto Sans Light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0" y="4597400"/>
            <a:ext cx="222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80">
                <a:solidFill>
                  <a:srgbClr val="2D3A52"/>
                </a:solidFill>
                <a:latin typeface="Noto Sans Mono"/>
              </a:rPr>
              <a:t>METRIC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0" y="4800600"/>
            <a:ext cx="2222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A6F2E"/>
                </a:solidFill>
                <a:latin typeface="Noto Sans Mono"/>
              </a:rPr>
              <a:t>Caption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26500" y="5327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550650" y="3429000"/>
            <a:ext cx="6350" cy="1905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80500" y="3657600"/>
            <a:ext cx="15875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0" spc="-179">
                <a:solidFill>
                  <a:srgbClr val="0B1A33"/>
                </a:solidFill>
                <a:latin typeface="Noto Sans Light"/>
              </a:rPr>
              <a:t>92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31500" y="3975100"/>
            <a:ext cx="571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D3A52"/>
                </a:solidFill>
                <a:latin typeface="Noto Sans Light"/>
              </a:rPr>
              <a:t>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0500" y="4597400"/>
            <a:ext cx="222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80">
                <a:solidFill>
                  <a:srgbClr val="2D3A52"/>
                </a:solidFill>
                <a:latin typeface="Noto Sans Mono"/>
              </a:rPr>
              <a:t>METRIC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0500" y="4800600"/>
            <a:ext cx="22225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8A6F2E"/>
                </a:solidFill>
                <a:latin typeface="Noto Sans Mono"/>
              </a:rPr>
              <a:t>Caption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7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KPI + PHOTO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635000"/>
            <a:ext cx="5207000" cy="558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1524000"/>
            <a:ext cx="546100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OUTCOMES</a:t>
            </a:r>
          </a:p>
        </p:txBody>
      </p:sp>
      <p:sp>
        <p:nvSpPr>
          <p:cNvPr id="7" name="feinschliff-title-title"/>
          <p:cNvSpPr txBox="1"/>
          <p:nvPr/>
        </p:nvSpPr>
        <p:spPr>
          <a:xfrm>
            <a:off x="635000" y="1778000"/>
            <a:ext cx="5461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What measurement bought 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048000"/>
            <a:ext cx="5461000" cy="254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" y="3175000"/>
            <a:ext cx="5461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0" spc="-179">
                <a:solidFill>
                  <a:srgbClr val="C9A24A"/>
                </a:solidFill>
                <a:latin typeface="Noto Sans Light"/>
              </a:rPr>
              <a:t>+47%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4000500"/>
            <a:ext cx="546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80">
                <a:solidFill>
                  <a:srgbClr val="2D3A52"/>
                </a:solidFill>
                <a:latin typeface="Noto Sans Mono"/>
              </a:rPr>
              <a:t>FORECAST SKILL (1980 VS 2025)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461000" cy="254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4445000"/>
            <a:ext cx="5461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0" spc="-179">
                <a:solidFill>
                  <a:srgbClr val="C9A24A"/>
                </a:solidFill>
                <a:latin typeface="Noto Sans Light"/>
              </a:rPr>
              <a:t>5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270500"/>
            <a:ext cx="546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80">
                <a:solidFill>
                  <a:srgbClr val="2D3A52"/>
                </a:solidFill>
                <a:latin typeface="Noto Sans Mono"/>
              </a:rPr>
              <a:t>HURRICANE TRACK LEAD TIME GAINED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MAY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18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SCORECARD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LAYOUT · SCORECARD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Headline takeaway about portfolio health.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794000"/>
            <a:ext cx="2413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WORKSTREAM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75000" y="2794000"/>
            <a:ext cx="1778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7000" y="2794000"/>
            <a:ext cx="1778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P2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0" y="2794000"/>
            <a:ext cx="1778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P3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1000" y="2794000"/>
            <a:ext cx="1778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P4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048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3175000"/>
            <a:ext cx="2413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Workstream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5000" y="3175000"/>
            <a:ext cx="177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On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7000" y="3175000"/>
            <a:ext cx="177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On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0" y="3175000"/>
            <a:ext cx="177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Slip 1w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1000" y="3175000"/>
            <a:ext cx="177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7084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835400"/>
            <a:ext cx="2413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Workstream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5000" y="3835400"/>
            <a:ext cx="177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On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7000" y="3835400"/>
            <a:ext cx="177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On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0" y="3835400"/>
            <a:ext cx="177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On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1000" y="3835400"/>
            <a:ext cx="177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368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000" y="4495800"/>
            <a:ext cx="2413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Workstream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5470" y="4495800"/>
            <a:ext cx="177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7000" y="4495800"/>
            <a:ext cx="177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Start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9000" y="4495800"/>
            <a:ext cx="177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1000" y="4495800"/>
            <a:ext cx="177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Pilot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0292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000" y="5156200"/>
            <a:ext cx="2413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Workstream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25470" y="5156200"/>
            <a:ext cx="177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57470" y="5156200"/>
            <a:ext cx="177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9000" y="5156200"/>
            <a:ext cx="177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Scope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71000" y="5156200"/>
            <a:ext cx="1778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Plan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96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28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GRAPHICAL BARS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LAYOUT · GRAPHICAL BARS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Headline takeaway from the chart.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9210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Bar A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7000" y="2984500"/>
            <a:ext cx="4318000" cy="254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67000" y="2984500"/>
            <a:ext cx="2677160" cy="254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2000" y="2921000"/>
            <a:ext cx="101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62%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5814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Bar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67000" y="3644900"/>
            <a:ext cx="4318000" cy="254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67000" y="3644900"/>
            <a:ext cx="1036319" cy="254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2000" y="3581400"/>
            <a:ext cx="101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24%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42418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Bar 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7000" y="4305300"/>
            <a:ext cx="4318000" cy="254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67000" y="4305300"/>
            <a:ext cx="474980" cy="254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2000" y="4241800"/>
            <a:ext cx="101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11%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49022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Bar 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7000" y="4965700"/>
            <a:ext cx="4318000" cy="254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4965700"/>
            <a:ext cx="129539" cy="254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2000" y="4902200"/>
            <a:ext cx="101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5969000"/>
            <a:ext cx="1092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Source · placeholder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13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PHOTO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SHOWCASE · 2026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520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Six places doing it right.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2286000"/>
            <a:ext cx="3556000" cy="114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000" y="3479800"/>
            <a:ext cx="3556000" cy="234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Singapore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746500"/>
            <a:ext cx="3556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NEWater closed-loop covers 60 % demand.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2286000"/>
            <a:ext cx="3556000" cy="114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18000" y="3479800"/>
            <a:ext cx="3556000" cy="234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Windhoek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8000" y="3746500"/>
            <a:ext cx="3556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Potable reuse in operation since 1968.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286000"/>
            <a:ext cx="3556000" cy="1143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01000" y="3479800"/>
            <a:ext cx="3556000" cy="234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Rotterdam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746500"/>
            <a:ext cx="3556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Blue-green roofs halved flood peaks.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4076700"/>
            <a:ext cx="3556000" cy="1143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000" y="5270500"/>
            <a:ext cx="3556000" cy="234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Rajasthan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5537200"/>
            <a:ext cx="3556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Johad step-wells revived by communities.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4076700"/>
            <a:ext cx="3556000" cy="1143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18000" y="5270500"/>
            <a:ext cx="3556000" cy="234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Cape Town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8000" y="5537200"/>
            <a:ext cx="3556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Day Zero cut per-capita use 15 % durable.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076700"/>
            <a:ext cx="3556000" cy="1143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001000" y="5270500"/>
            <a:ext cx="3556000" cy="234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Tokyo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5537200"/>
            <a:ext cx="3556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Acoustic leak detection: 98 % recovery.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8547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5918200"/>
            <a:ext cx="10922000" cy="234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C9A24A"/>
                </a:solidFill>
                <a:latin typeface="Noto Sans Medium"/>
              </a:rPr>
              <a:t>Every working approach starts with measurement — scale follows.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MAY 2026 · SHOWCASE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26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PHOTO-STRIP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FUTURES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Four water futures.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540000"/>
            <a:ext cx="2501900" cy="381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000" y="2635250"/>
            <a:ext cx="2374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FAF8F3"/>
                </a:solidFill>
                <a:latin typeface="Noto Sans Medium"/>
              </a:rPr>
              <a:t>Drier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022600"/>
            <a:ext cx="2501900" cy="787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Arid bands expand; aquifers deplete; crop belts shift poleward.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3937000"/>
            <a:ext cx="2501900" cy="2159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441700" y="2540000"/>
            <a:ext cx="2501900" cy="381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8700" y="2635250"/>
            <a:ext cx="2247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FAF8F3"/>
                </a:solidFill>
                <a:latin typeface="Noto Sans Medium"/>
              </a:rPr>
              <a:t>Wetter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1700" y="3022600"/>
            <a:ext cx="2501900" cy="787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Monsoons amplify; mountain rivers run faster; floods concentrate.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700" y="3937000"/>
            <a:ext cx="2501900" cy="2159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248400" y="2540000"/>
            <a:ext cx="2501900" cy="381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5400" y="2635250"/>
            <a:ext cx="2247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FAF8F3"/>
                </a:solidFill>
                <a:latin typeface="Noto Sans Medium"/>
              </a:rPr>
              <a:t>Managed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3022600"/>
            <a:ext cx="2501900" cy="787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Engineered storage, treatment, reuse, ecosystem restoration.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937000"/>
            <a:ext cx="2501900" cy="2159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9055100" y="2540000"/>
            <a:ext cx="2501900" cy="381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2100" y="2635250"/>
            <a:ext cx="2247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FAF8F3"/>
                </a:solidFill>
                <a:latin typeface="Noto Sans Medium"/>
              </a:rPr>
              <a:t>Wild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5100" y="3022600"/>
            <a:ext cx="2501900" cy="787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Restored floodplains, reconnected rivers, beaver-built holding.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100" y="3937000"/>
            <a:ext cx="2501900" cy="2159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MAY 2026 · SHOWCASE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29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CHART + PHOTO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635000"/>
            <a:ext cx="5207000" cy="558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1524000"/>
            <a:ext cx="5588000" cy="139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TREND</a:t>
            </a:r>
          </a:p>
        </p:txBody>
      </p:sp>
      <p:sp>
        <p:nvSpPr>
          <p:cNvPr id="7" name="feinschliff-title-title"/>
          <p:cNvSpPr txBox="1"/>
          <p:nvPr/>
        </p:nvSpPr>
        <p:spPr>
          <a:xfrm>
            <a:off x="635000" y="1778000"/>
            <a:ext cx="5588000" cy="6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Floods, concentrated.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25654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1970s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5000" y="2603500"/>
            <a:ext cx="3302000" cy="2286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05000" y="2603500"/>
            <a:ext cx="594360" cy="2286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0500" y="2565400"/>
            <a:ext cx="88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31242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1980s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5000" y="3162300"/>
            <a:ext cx="3302000" cy="2286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05000" y="3162300"/>
            <a:ext cx="825500" cy="2286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0500" y="3124200"/>
            <a:ext cx="88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36830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1990s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05000" y="3721100"/>
            <a:ext cx="3302000" cy="2286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05000" y="3721100"/>
            <a:ext cx="1320800" cy="2286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0500" y="3683000"/>
            <a:ext cx="88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" y="42418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2000s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5000" y="4279900"/>
            <a:ext cx="3302000" cy="2286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05000" y="4279900"/>
            <a:ext cx="2080260" cy="2286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70500" y="4241800"/>
            <a:ext cx="88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133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48006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2010s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05000" y="4838700"/>
            <a:ext cx="3302000" cy="2286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5000" y="4838700"/>
            <a:ext cx="3302000" cy="2286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70500" y="4800600"/>
            <a:ext cx="88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211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5207000"/>
            <a:ext cx="5588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Major urban floods per decade, 1970–2020.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MAY 2026 · SHOWCASE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12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BAR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LAYOUT · BAR CHART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Headline takeaway from the chart.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9210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Bar A</a:t>
            </a:r>
          </a:p>
        </p:txBody>
      </p:sp>
      <p:sp>
        <p:nvSpPr>
          <p:cNvPr id="8" name="Rectangle 7"/>
          <p:cNvSpPr/>
          <p:nvPr/>
        </p:nvSpPr>
        <p:spPr>
          <a:xfrm>
            <a:off x="2667000" y="2984500"/>
            <a:ext cx="7620000" cy="254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67000" y="2984500"/>
            <a:ext cx="4724400" cy="254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14000" y="29210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62%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35814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Bar 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67000" y="3644900"/>
            <a:ext cx="7620000" cy="254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67000" y="3644900"/>
            <a:ext cx="1828800" cy="254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0" y="35814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24%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42418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Bar 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7000" y="4305300"/>
            <a:ext cx="7620000" cy="254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67000" y="4305300"/>
            <a:ext cx="838200" cy="254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14000" y="42418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11%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4902200"/>
            <a:ext cx="1905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Bar 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67000" y="4965700"/>
            <a:ext cx="7620000" cy="254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4965700"/>
            <a:ext cx="228600" cy="254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14000" y="49022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5969000"/>
            <a:ext cx="1092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Source · placeholder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LAYOUT · STACKED BAR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Headline takeaway about the mix over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000" y="20320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0B1A33"/>
                </a:solidFill>
                <a:latin typeface="Noto Sans"/>
              </a:rPr>
              <a:t>11.9</a:t>
            </a:r>
          </a:p>
        </p:txBody>
      </p:sp>
      <p:sp>
        <p:nvSpPr>
          <p:cNvPr id="8" name="Rectangle 7"/>
          <p:cNvSpPr/>
          <p:nvPr/>
        </p:nvSpPr>
        <p:spPr>
          <a:xfrm>
            <a:off x="889000" y="2736850"/>
            <a:ext cx="1270000" cy="635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9000" y="2800350"/>
            <a:ext cx="1270000" cy="342900"/>
          </a:xfrm>
          <a:prstGeom prst="rect">
            <a:avLst/>
          </a:prstGeom>
          <a:solidFill>
            <a:srgbClr val="2D47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3143250"/>
            <a:ext cx="1270000" cy="69215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3835400"/>
            <a:ext cx="1270000" cy="146685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9000" y="28956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0ECE4"/>
                </a:solidFill>
                <a:latin typeface="Noto Sans"/>
              </a:rPr>
              <a:t>1.6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34163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0ECE4"/>
                </a:solidFill>
                <a:latin typeface="Noto Sans"/>
              </a:rPr>
              <a:t>3.2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44958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0ECE4"/>
                </a:solidFill>
                <a:latin typeface="Noto Sans"/>
              </a:rPr>
              <a:t>6.8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7000" y="20320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0B1A33"/>
                </a:solidFill>
                <a:latin typeface="Noto Sans"/>
              </a:rPr>
              <a:t>12.4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67000" y="2622550"/>
            <a:ext cx="1270000" cy="10795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67000" y="2730500"/>
            <a:ext cx="1270000" cy="368300"/>
          </a:xfrm>
          <a:prstGeom prst="rect">
            <a:avLst/>
          </a:prstGeom>
          <a:solidFill>
            <a:srgbClr val="2D47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098800"/>
            <a:ext cx="1270000" cy="75565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854450"/>
            <a:ext cx="1270000" cy="14478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67000" y="283845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0ECE4"/>
                </a:solidFill>
                <a:latin typeface="Noto Sans"/>
              </a:rPr>
              <a:t>1.7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7000" y="34036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0ECE4"/>
                </a:solidFill>
                <a:latin typeface="Noto Sans"/>
              </a:rPr>
              <a:t>3.5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67000" y="450215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0ECE4"/>
                </a:solidFill>
                <a:latin typeface="Noto Sans"/>
              </a:rPr>
              <a:t>6.7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5000" y="20320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0B1A33"/>
                </a:solidFill>
                <a:latin typeface="Noto Sans"/>
              </a:rPr>
              <a:t>12.9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45000" y="2514600"/>
            <a:ext cx="1270000" cy="17145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45000" y="2686050"/>
            <a:ext cx="1270000" cy="387350"/>
          </a:xfrm>
          <a:prstGeom prst="rect">
            <a:avLst/>
          </a:prstGeom>
          <a:solidFill>
            <a:srgbClr val="2D47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45000" y="3073400"/>
            <a:ext cx="1270000" cy="80010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45000" y="3873500"/>
            <a:ext cx="1270000" cy="142875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45000" y="28067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0ECE4"/>
                </a:solidFill>
                <a:latin typeface="Noto Sans"/>
              </a:rPr>
              <a:t>1.8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5000" y="339725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0ECE4"/>
                </a:solidFill>
                <a:latin typeface="Noto Sans"/>
              </a:rPr>
              <a:t>3.7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5000" y="45085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0ECE4"/>
                </a:solidFill>
                <a:latin typeface="Noto Sans"/>
              </a:rPr>
              <a:t>6.6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3000" y="20320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0B1A33"/>
                </a:solidFill>
                <a:latin typeface="Noto Sans"/>
              </a:rPr>
              <a:t>13.4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3000" y="2406650"/>
            <a:ext cx="1270000" cy="23495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23000" y="2641600"/>
            <a:ext cx="1270000" cy="412750"/>
          </a:xfrm>
          <a:prstGeom prst="rect">
            <a:avLst/>
          </a:prstGeom>
          <a:solidFill>
            <a:srgbClr val="2D47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3000" y="3054350"/>
            <a:ext cx="1270000" cy="84455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23000" y="3898900"/>
            <a:ext cx="1270000" cy="140335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24511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0B1A33"/>
                </a:solidFill>
                <a:latin typeface="Noto Sans"/>
              </a:rPr>
              <a:t>1.1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23000" y="277495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0ECE4"/>
                </a:solidFill>
                <a:latin typeface="Noto Sans"/>
              </a:rPr>
              <a:t>1.9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23000" y="34036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0ECE4"/>
                </a:solidFill>
                <a:latin typeface="Noto Sans"/>
              </a:rPr>
              <a:t>3.9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23000" y="45212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0ECE4"/>
                </a:solidFill>
                <a:latin typeface="Noto Sans"/>
              </a:rPr>
              <a:t>6.5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20320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0B1A33"/>
                </a:solidFill>
                <a:latin typeface="Noto Sans"/>
              </a:rPr>
              <a:t>14.1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1000" y="2254250"/>
            <a:ext cx="1270000" cy="3048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01000" y="2559050"/>
            <a:ext cx="1270000" cy="450850"/>
          </a:xfrm>
          <a:prstGeom prst="rect">
            <a:avLst/>
          </a:prstGeom>
          <a:solidFill>
            <a:srgbClr val="2D47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01000" y="3009900"/>
            <a:ext cx="1270000" cy="90805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01000" y="3917950"/>
            <a:ext cx="1270000" cy="13843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01000" y="233045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0B1A33"/>
                </a:solidFill>
                <a:latin typeface="Noto Sans"/>
              </a:rPr>
              <a:t>1.4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271145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0ECE4"/>
                </a:solidFill>
                <a:latin typeface="Noto Sans"/>
              </a:rPr>
              <a:t>2.1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01000" y="33909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0ECE4"/>
                </a:solidFill>
                <a:latin typeface="Noto Sans"/>
              </a:rPr>
              <a:t>4.2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01000" y="45339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0ECE4"/>
                </a:solidFill>
                <a:latin typeface="Noto Sans"/>
              </a:rPr>
              <a:t>6.4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000" y="54610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P1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67000" y="54610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P2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45000" y="54610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P3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23000" y="54610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P4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0" y="54610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P5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79000" y="2095500"/>
            <a:ext cx="1778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SEGMENT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79000" y="2286000"/>
            <a:ext cx="101600" cy="1016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31400" y="22860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Series 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31400" y="2413000"/>
            <a:ext cx="15240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−6% · 5y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779000" y="2730500"/>
            <a:ext cx="101600" cy="10160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31400" y="27305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Series 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31400" y="28575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+31% · 5y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79000" y="3175000"/>
            <a:ext cx="101600" cy="101600"/>
          </a:xfrm>
          <a:prstGeom prst="rect">
            <a:avLst/>
          </a:prstGeom>
          <a:solidFill>
            <a:srgbClr val="2D47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931400" y="31750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Series 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31400" y="33020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+31%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79000" y="3619500"/>
            <a:ext cx="101600" cy="1016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31400" y="36195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Series 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31400" y="37465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+367% · 5y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5000" y="5969000"/>
            <a:ext cx="1092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Source · placeholder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22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LINE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LAYOUT · LINE CHART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Headline takeaway from the trend over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921000"/>
            <a:ext cx="10922000" cy="2667000"/>
          </a:xfrm>
          <a:prstGeom prst="rect">
            <a:avLst/>
          </a:prstGeom>
          <a:solidFill>
            <a:srgbClr val="FAF8F3"/>
          </a:solidFill>
          <a:ln w="9525">
            <a:solidFill>
              <a:srgbClr val="D6D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000" y="55880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714500" y="2921000"/>
            <a:ext cx="8636000" cy="1555750"/>
          </a:xfrm>
          <a:custGeom>
            <a:avLst/>
            <a:gdLst/>
            <a:ahLst/>
            <a:cxnLst/>
            <a:rect l="l" t="t" r="r" b="b"/>
            <a:pathLst>
              <a:path w="8636000" h="1555750">
                <a:moveTo>
                  <a:pt x="0" y="1555750"/>
                </a:moveTo>
                <a:lnTo>
                  <a:pt x="2159000" y="1111250"/>
                </a:lnTo>
                <a:lnTo>
                  <a:pt x="4318000" y="666750"/>
                </a:lnTo>
                <a:lnTo>
                  <a:pt x="6477000" y="222250"/>
                </a:lnTo>
                <a:lnTo>
                  <a:pt x="8636000" y="0"/>
                </a:lnTo>
              </a:path>
            </a:pathLst>
          </a:custGeom>
          <a:noFill/>
          <a:ln w="6350">
            <a:solidFill>
              <a:srgbClr val="C9A24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714500" y="3365500"/>
            <a:ext cx="8636000" cy="889000"/>
          </a:xfrm>
          <a:custGeom>
            <a:avLst/>
            <a:gdLst/>
            <a:ahLst/>
            <a:cxnLst/>
            <a:rect l="l" t="t" r="r" b="b"/>
            <a:pathLst>
              <a:path w="8636000" h="889000">
                <a:moveTo>
                  <a:pt x="0" y="889000"/>
                </a:moveTo>
                <a:lnTo>
                  <a:pt x="2159000" y="889000"/>
                </a:lnTo>
                <a:lnTo>
                  <a:pt x="4318000" y="666750"/>
                </a:lnTo>
                <a:lnTo>
                  <a:pt x="6477000" y="222250"/>
                </a:lnTo>
                <a:lnTo>
                  <a:pt x="8636000" y="0"/>
                </a:lnTo>
              </a:path>
            </a:pathLst>
          </a:custGeom>
          <a:noFill/>
          <a:ln w="6350">
            <a:solidFill>
              <a:srgbClr val="2D3A5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000" y="5651500"/>
            <a:ext cx="215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P1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000" y="5651500"/>
            <a:ext cx="215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3000" y="5651500"/>
            <a:ext cx="215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P3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2000" y="5651500"/>
            <a:ext cx="215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P4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0" y="5651500"/>
            <a:ext cx="215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P5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0" y="1270000"/>
            <a:ext cx="101600" cy="1016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25000" y="1244600"/>
            <a:ext cx="1016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Series 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41000" y="1270000"/>
            <a:ext cx="101600" cy="101600"/>
          </a:xfrm>
          <a:prstGeom prst="rect">
            <a:avLst/>
          </a:prstGeom>
          <a:solidFill>
            <a:srgbClr val="2D3A5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68000" y="1244600"/>
            <a:ext cx="1016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Series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" y="6159500"/>
            <a:ext cx="1092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Source · placeholder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27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WATERFALL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LAYOUT · WATERFALL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Headline takeaway about the bridge.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1524000" cy="3048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000" y="24511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58420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09800" y="2667000"/>
            <a:ext cx="1524000" cy="3810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09800" y="24511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+0.6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9800" y="58420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Step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84600" y="2413000"/>
            <a:ext cx="1524000" cy="2540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4600" y="21971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+0.4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4600" y="58420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Step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59400" y="2222500"/>
            <a:ext cx="1524000" cy="1905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9400" y="20066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+0.3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9400" y="58420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Step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34200" y="2222500"/>
            <a:ext cx="1524000" cy="190500"/>
          </a:xfrm>
          <a:prstGeom prst="rect">
            <a:avLst/>
          </a:prstGeom>
          <a:solidFill>
            <a:srgbClr val="5A64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4200" y="20066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−0.3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4200" y="58420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Step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9000" y="2413000"/>
            <a:ext cx="1524000" cy="127000"/>
          </a:xfrm>
          <a:prstGeom prst="rect">
            <a:avLst/>
          </a:prstGeom>
          <a:solidFill>
            <a:srgbClr val="5A64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9000" y="21971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−0.2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9000" y="58420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Step 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83800" y="2413000"/>
            <a:ext cx="1524000" cy="3302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83800" y="21971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83800" y="58420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Net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6159500"/>
            <a:ext cx="1092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Source · placeholder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20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96">
                <a:solidFill>
                  <a:srgbClr val="2D3A52"/>
                </a:solidFill>
                <a:latin typeface="Noto Sans Mono"/>
              </a:rPr>
              <a:t>LAYOUT ·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651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108">
                <a:solidFill>
                  <a:srgbClr val="C9A24A"/>
                </a:solidFill>
                <a:latin typeface="Noto Sans Mono"/>
              </a:rPr>
              <a:t>HOW WE GOT HERE</a:t>
            </a:r>
          </a:p>
        </p:txBody>
      </p:sp>
      <p:sp>
        <p:nvSpPr>
          <p:cNvPr id="7" name="feinschliff-title-act-title"/>
          <p:cNvSpPr txBox="1"/>
          <p:nvPr/>
        </p:nvSpPr>
        <p:spPr>
          <a:xfrm>
            <a:off x="635000" y="1905000"/>
            <a:ext cx="109220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spc="-56">
                <a:solidFill>
                  <a:srgbClr val="0B1A33"/>
                </a:solidFill>
                <a:latin typeface="Noto Sans"/>
              </a:rPr>
              <a:t>Eight years from bootstrap to $40M ARR.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889000"/>
            <a:ext cx="10922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112">
                <a:solidFill>
                  <a:srgbClr val="2D3A52"/>
                </a:solidFill>
                <a:latin typeface="Noto Sans Mono"/>
              </a:rPr>
              <a:t>2018 →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3860800"/>
            <a:ext cx="4762500" cy="1524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445000"/>
            <a:ext cx="47625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2D3A52"/>
                </a:solidFill>
                <a:latin typeface="Noto Sans Mono"/>
              </a:rPr>
              <a:t>FOUNDER-LED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05500" y="3860800"/>
            <a:ext cx="4762500" cy="152400"/>
          </a:xfrm>
          <a:prstGeom prst="rect">
            <a:avLst/>
          </a:prstGeom>
          <a:solidFill>
            <a:srgbClr val="D6E0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5500" y="4445000"/>
            <a:ext cx="47625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2D3A52"/>
                </a:solidFill>
                <a:latin typeface="Noto Sans Mono"/>
              </a:rPr>
              <a:t>SCALE PHASE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9370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1092200" y="3886200"/>
            <a:ext cx="101600" cy="101600"/>
          </a:xfrm>
          <a:prstGeom prst="diamond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36650" y="3835400"/>
            <a:ext cx="12700" cy="1016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500" y="2686050"/>
            <a:ext cx="1778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2018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500" y="3009900"/>
            <a:ext cx="1778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Bootstrap.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500" y="3352800"/>
            <a:ext cx="177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Two founders, six customers.</a:t>
            </a:r>
          </a:p>
        </p:txBody>
      </p:sp>
      <p:sp>
        <p:nvSpPr>
          <p:cNvPr id="19" name="Diamond 18"/>
          <p:cNvSpPr/>
          <p:nvPr/>
        </p:nvSpPr>
        <p:spPr>
          <a:xfrm>
            <a:off x="3473450" y="3886200"/>
            <a:ext cx="101600" cy="101600"/>
          </a:xfrm>
          <a:prstGeom prst="diamond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17900" y="3987800"/>
            <a:ext cx="12700" cy="9525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8750" y="4953000"/>
            <a:ext cx="1651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8750" y="5118100"/>
            <a:ext cx="1651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Seed round.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8750" y="5549900"/>
            <a:ext cx="165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$2.5M led by Foundry.</a:t>
            </a:r>
          </a:p>
        </p:txBody>
      </p:sp>
      <p:sp>
        <p:nvSpPr>
          <p:cNvPr id="24" name="Diamond 23"/>
          <p:cNvSpPr/>
          <p:nvPr/>
        </p:nvSpPr>
        <p:spPr>
          <a:xfrm>
            <a:off x="5854700" y="3886200"/>
            <a:ext cx="101600" cy="101600"/>
          </a:xfrm>
          <a:prstGeom prst="diamond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99150" y="3835400"/>
            <a:ext cx="12700" cy="1016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80000" y="2686050"/>
            <a:ext cx="1651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0000" y="3009900"/>
            <a:ext cx="1651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Series 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80000" y="3352800"/>
            <a:ext cx="1651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$12M, growth team.</a:t>
            </a:r>
          </a:p>
        </p:txBody>
      </p:sp>
      <p:sp>
        <p:nvSpPr>
          <p:cNvPr id="29" name="Diamond 28"/>
          <p:cNvSpPr/>
          <p:nvPr/>
        </p:nvSpPr>
        <p:spPr>
          <a:xfrm>
            <a:off x="8235950" y="3886200"/>
            <a:ext cx="101600" cy="101600"/>
          </a:xfrm>
          <a:prstGeom prst="diamond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80400" y="3987800"/>
            <a:ext cx="12700" cy="9525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61250" y="4953000"/>
            <a:ext cx="1651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61250" y="5118100"/>
            <a:ext cx="1651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$10M ARR.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61250" y="5549900"/>
            <a:ext cx="165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First enterprise plan.</a:t>
            </a:r>
          </a:p>
        </p:txBody>
      </p:sp>
      <p:sp>
        <p:nvSpPr>
          <p:cNvPr id="34" name="Diamond 33"/>
          <p:cNvSpPr/>
          <p:nvPr/>
        </p:nvSpPr>
        <p:spPr>
          <a:xfrm>
            <a:off x="10617200" y="3886200"/>
            <a:ext cx="101600" cy="101600"/>
          </a:xfrm>
          <a:prstGeom prst="diamond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61650" y="3835400"/>
            <a:ext cx="12700" cy="1016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42500" y="2686050"/>
            <a:ext cx="1651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2026 Q3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42500" y="3009900"/>
            <a:ext cx="1651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$40M ARR.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42500" y="3352800"/>
            <a:ext cx="1651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Today.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32 /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GANTT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LAYOUT · GANTT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Headline takeaway about the delivery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540000"/>
            <a:ext cx="215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Q1 ·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40000"/>
            <a:ext cx="215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Q2 ·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540000"/>
            <a:ext cx="215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Q3 ·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540000"/>
            <a:ext cx="215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Q4 ·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22500" y="2794000"/>
            <a:ext cx="6350" cy="2159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8500" y="2794000"/>
            <a:ext cx="6350" cy="2159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94500" y="2794000"/>
            <a:ext cx="6350" cy="2159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80500" y="2794000"/>
            <a:ext cx="6350" cy="2159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366500" y="2794000"/>
            <a:ext cx="6350" cy="2159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279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2921000"/>
            <a:ext cx="1778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WORKSTREAM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3073400"/>
            <a:ext cx="1778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OWNER · TEAM 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2921000"/>
            <a:ext cx="4572000" cy="254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13000" y="2984500"/>
            <a:ext cx="4318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0B1A33"/>
                </a:solidFill>
                <a:latin typeface="Noto Sans Mono"/>
              </a:rPr>
              <a:t>MILESTONE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02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3429000"/>
            <a:ext cx="1778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WORKSTREAM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3581400"/>
            <a:ext cx="1778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OWNER · TEAM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3429000"/>
            <a:ext cx="4572000" cy="2540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13000" y="3492500"/>
            <a:ext cx="4318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F0ECE4"/>
                </a:solidFill>
                <a:latin typeface="Noto Sans Mono"/>
              </a:rPr>
              <a:t>MILESTONE 2</a:t>
            </a:r>
          </a:p>
        </p:txBody>
      </p:sp>
      <p:sp>
        <p:nvSpPr>
          <p:cNvPr id="26" name="Diamond 25"/>
          <p:cNvSpPr/>
          <p:nvPr/>
        </p:nvSpPr>
        <p:spPr>
          <a:xfrm>
            <a:off x="6731000" y="3479800"/>
            <a:ext cx="152400" cy="152400"/>
          </a:xfrm>
          <a:prstGeom prst="diamond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3810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00" y="3937000"/>
            <a:ext cx="1778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WORKSTREAM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000" y="4089400"/>
            <a:ext cx="1778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OWNER · TEAM 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937000"/>
            <a:ext cx="4572000" cy="254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85000" y="4000500"/>
            <a:ext cx="4318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0B1A33"/>
                </a:solidFill>
                <a:latin typeface="Noto Sans Mono"/>
              </a:rPr>
              <a:t>MILESTONE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4318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000" y="4445000"/>
            <a:ext cx="1778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WORKSTREAM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4597400"/>
            <a:ext cx="1778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OWNER · TEAM 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445000"/>
            <a:ext cx="2286000" cy="2540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85000" y="4508500"/>
            <a:ext cx="203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F0ECE4"/>
                </a:solidFill>
                <a:latin typeface="Noto Sans Mono"/>
              </a:rPr>
              <a:t>PREVIEW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4445000"/>
            <a:ext cx="2286000" cy="254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71000" y="4508500"/>
            <a:ext cx="203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4826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000" y="5016500"/>
            <a:ext cx="1092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COMMITTED · CRITICAL PATH · DEPENDENCY WINDOW · MILESTONE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29 / 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96">
                <a:solidFill>
                  <a:srgbClr val="2D3A52"/>
                </a:solidFill>
                <a:latin typeface="Noto Sans Mono"/>
              </a:rPr>
              <a:t>LAYOUT ·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651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108">
                <a:solidFill>
                  <a:srgbClr val="C9A24A"/>
                </a:solidFill>
                <a:latin typeface="Noto Sans Mono"/>
              </a:rPr>
              <a:t>EIGHTEEN-MONTH PLAN</a:t>
            </a:r>
          </a:p>
        </p:txBody>
      </p:sp>
      <p:sp>
        <p:nvSpPr>
          <p:cNvPr id="7" name="feinschliff-title-act-title"/>
          <p:cNvSpPr txBox="1"/>
          <p:nvPr/>
        </p:nvSpPr>
        <p:spPr>
          <a:xfrm>
            <a:off x="635000" y="1905000"/>
            <a:ext cx="109220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spc="-56">
                <a:solidFill>
                  <a:srgbClr val="0B1A33"/>
                </a:solidFill>
                <a:latin typeface="Noto Sans"/>
              </a:rPr>
              <a:t>Three workstreams converge on Q4-2027 GA.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2794000"/>
            <a:ext cx="10922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● Done ● In progress ● Next · Skip</a:t>
            </a:r>
          </a:p>
        </p:txBody>
      </p:sp>
      <p:sp>
        <p:nvSpPr>
          <p:cNvPr id="9" name="Diamond 8"/>
          <p:cNvSpPr/>
          <p:nvPr/>
        </p:nvSpPr>
        <p:spPr>
          <a:xfrm>
            <a:off x="5099050" y="2819400"/>
            <a:ext cx="152400" cy="152400"/>
          </a:xfrm>
          <a:prstGeom prst="diamond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3250" y="3009900"/>
            <a:ext cx="1524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FIRST PAYING TENANT</a:t>
            </a:r>
          </a:p>
        </p:txBody>
      </p:sp>
      <p:sp>
        <p:nvSpPr>
          <p:cNvPr id="11" name="Diamond 10"/>
          <p:cNvSpPr/>
          <p:nvPr/>
        </p:nvSpPr>
        <p:spPr>
          <a:xfrm>
            <a:off x="8782050" y="2819400"/>
            <a:ext cx="152400" cy="152400"/>
          </a:xfrm>
          <a:prstGeom prst="diamond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6250" y="3009900"/>
            <a:ext cx="1524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GA 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3000" y="3302000"/>
            <a:ext cx="1841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Q4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4500" y="3302000"/>
            <a:ext cx="1841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Q1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0" y="3302000"/>
            <a:ext cx="1841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Q2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7500" y="3302000"/>
            <a:ext cx="1841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Q3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9000" y="3302000"/>
            <a:ext cx="1841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Q4 2027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560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49500" y="3556000"/>
            <a:ext cx="6350" cy="2667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91000" y="3556000"/>
            <a:ext cx="6350" cy="2667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2500" y="3556000"/>
            <a:ext cx="6350" cy="2667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74000" y="3556000"/>
            <a:ext cx="6350" cy="2667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15500" y="3556000"/>
            <a:ext cx="6350" cy="2667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57000" y="3556000"/>
            <a:ext cx="6350" cy="2667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318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3810000"/>
            <a:ext cx="165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C9A24A"/>
                </a:solidFill>
                <a:latin typeface="Noto Sans Medium"/>
              </a:rPr>
              <a:t>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4089400"/>
            <a:ext cx="1651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ENGINEERING · TEAM 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00300" y="3810000"/>
            <a:ext cx="1739900" cy="406400"/>
          </a:xfrm>
          <a:prstGeom prst="rect">
            <a:avLst/>
          </a:prstGeom>
          <a:solidFill>
            <a:srgbClr val="3F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00300" y="3911600"/>
            <a:ext cx="1739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>Foundations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41800" y="3810000"/>
            <a:ext cx="1739900" cy="4064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41800" y="3911600"/>
            <a:ext cx="1739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>Multi-tenancy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3300" y="3810000"/>
            <a:ext cx="1739900" cy="406400"/>
          </a:xfrm>
          <a:prstGeom prst="rect">
            <a:avLst/>
          </a:prstGeom>
          <a:solidFill>
            <a:srgbClr val="5A64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3300" y="3911600"/>
            <a:ext cx="1739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>SSO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24800" y="3810000"/>
            <a:ext cx="1739900" cy="406400"/>
          </a:xfrm>
          <a:prstGeom prst="rect">
            <a:avLst/>
          </a:prstGeom>
          <a:solidFill>
            <a:srgbClr val="5A64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4800" y="3911600"/>
            <a:ext cx="1739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>Audit log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66300" y="3810000"/>
            <a:ext cx="1739900" cy="4064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66300" y="3911600"/>
            <a:ext cx="1739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495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000" y="4445000"/>
            <a:ext cx="165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C9A24A"/>
                </a:solidFill>
                <a:latin typeface="Noto Sans Medium"/>
              </a:rPr>
              <a:t>Product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000" y="4724400"/>
            <a:ext cx="1651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PRODUCT · TEAM 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00300" y="4445000"/>
            <a:ext cx="1739900" cy="4064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00300" y="4546600"/>
            <a:ext cx="1739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4241800" y="4445000"/>
            <a:ext cx="1739900" cy="4064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41800" y="4546600"/>
            <a:ext cx="1739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>Beta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3300" y="4445000"/>
            <a:ext cx="1739900" cy="406400"/>
          </a:xfrm>
          <a:prstGeom prst="rect">
            <a:avLst/>
          </a:prstGeom>
          <a:solidFill>
            <a:srgbClr val="5A64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3300" y="4546600"/>
            <a:ext cx="1739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>GA prep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24800" y="4445000"/>
            <a:ext cx="1739900" cy="406400"/>
          </a:xfrm>
          <a:prstGeom prst="rect">
            <a:avLst/>
          </a:prstGeom>
          <a:solidFill>
            <a:srgbClr val="5A64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24800" y="4546600"/>
            <a:ext cx="1739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>Launch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66300" y="4445000"/>
            <a:ext cx="1739900" cy="406400"/>
          </a:xfrm>
          <a:prstGeom prst="rect">
            <a:avLst/>
          </a:prstGeom>
          <a:solidFill>
            <a:srgbClr val="5A64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66300" y="4546600"/>
            <a:ext cx="1739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>Scale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000" y="5588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000" y="5080000"/>
            <a:ext cx="165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C9A24A"/>
                </a:solidFill>
                <a:latin typeface="Noto Sans Medium"/>
              </a:rPr>
              <a:t>Go-to-market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5359400"/>
            <a:ext cx="1651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MARKETING · TEAM 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00300" y="5080000"/>
            <a:ext cx="1739900" cy="4064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00300" y="5181600"/>
            <a:ext cx="1739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/>
            </a:r>
          </a:p>
        </p:txBody>
      </p:sp>
      <p:sp>
        <p:nvSpPr>
          <p:cNvPr id="56" name="Rectangle 55"/>
          <p:cNvSpPr/>
          <p:nvPr/>
        </p:nvSpPr>
        <p:spPr>
          <a:xfrm>
            <a:off x="4241800" y="5080000"/>
            <a:ext cx="1739900" cy="4064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41800" y="5181600"/>
            <a:ext cx="1739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6083300" y="5080000"/>
            <a:ext cx="1739900" cy="4064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83300" y="5181600"/>
            <a:ext cx="1739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>Pricing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924800" y="5080000"/>
            <a:ext cx="1739900" cy="406400"/>
          </a:xfrm>
          <a:prstGeom prst="rect">
            <a:avLst/>
          </a:prstGeom>
          <a:solidFill>
            <a:srgbClr val="5A64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24800" y="5181600"/>
            <a:ext cx="1739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>Channel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766300" y="5080000"/>
            <a:ext cx="1739900" cy="406400"/>
          </a:xfrm>
          <a:prstGeom prst="rect">
            <a:avLst/>
          </a:prstGeom>
          <a:solidFill>
            <a:srgbClr val="5A64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66300" y="5181600"/>
            <a:ext cx="1739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>ABM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5000" y="5715000"/>
            <a:ext cx="1651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C9A24A"/>
                </a:solidFill>
                <a:latin typeface="Noto Sans Medium"/>
              </a:rPr>
              <a:t>Operations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5000" y="5994400"/>
            <a:ext cx="1651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FINANCE · TEAM 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00300" y="5715000"/>
            <a:ext cx="1739900" cy="406400"/>
          </a:xfrm>
          <a:prstGeom prst="rect">
            <a:avLst/>
          </a:prstGeom>
          <a:solidFill>
            <a:srgbClr val="3F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400300" y="5816600"/>
            <a:ext cx="1739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>Pricing model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41800" y="5715000"/>
            <a:ext cx="1739900" cy="4064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41800" y="5816600"/>
            <a:ext cx="1739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>Quoting tool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83300" y="5715000"/>
            <a:ext cx="1739900" cy="406400"/>
          </a:xfrm>
          <a:prstGeom prst="rect">
            <a:avLst/>
          </a:prstGeom>
          <a:solidFill>
            <a:srgbClr val="5A64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83300" y="5816600"/>
            <a:ext cx="1739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>Invoicing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24800" y="5715000"/>
            <a:ext cx="1739900" cy="4064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24800" y="5816600"/>
            <a:ext cx="1739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/>
            </a:r>
          </a:p>
        </p:txBody>
      </p:sp>
      <p:sp>
        <p:nvSpPr>
          <p:cNvPr id="75" name="Rectangle 74"/>
          <p:cNvSpPr/>
          <p:nvPr/>
        </p:nvSpPr>
        <p:spPr>
          <a:xfrm>
            <a:off x="9766300" y="5715000"/>
            <a:ext cx="1739900" cy="4064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66300" y="5816600"/>
            <a:ext cx="17399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/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26 / 32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PROCESS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LAYOUT · PROCESS FLOW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Five stages, one highlighted as active.</a:t>
            </a:r>
          </a:p>
        </p:txBody>
      </p:sp>
      <p:sp>
        <p:nvSpPr>
          <p:cNvPr id="7" name="Chevron 6"/>
          <p:cNvSpPr/>
          <p:nvPr/>
        </p:nvSpPr>
        <p:spPr>
          <a:xfrm>
            <a:off x="508000" y="3048000"/>
            <a:ext cx="2286000" cy="2286000"/>
          </a:xfrm>
          <a:prstGeom prst="chevron">
            <a:avLst>
              <a:gd name="adj" fmla="val 15000"/>
            </a:avLst>
          </a:prstGeom>
          <a:solidFill>
            <a:srgbClr val="F4F1E8"/>
          </a:solidFill>
          <a:ln w="9525">
            <a:solidFill>
              <a:srgbClr val="D6D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Chevron 7"/>
          <p:cNvSpPr/>
          <p:nvPr/>
        </p:nvSpPr>
        <p:spPr>
          <a:xfrm>
            <a:off x="2451100" y="3048000"/>
            <a:ext cx="2286000" cy="2286000"/>
          </a:xfrm>
          <a:prstGeom prst="chevron">
            <a:avLst>
              <a:gd name="adj" fmla="val 15000"/>
            </a:avLst>
          </a:prstGeom>
          <a:solidFill>
            <a:srgbClr val="F4F1E8"/>
          </a:solidFill>
          <a:ln w="9525">
            <a:solidFill>
              <a:srgbClr val="D6D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4394200" y="3048000"/>
            <a:ext cx="2286000" cy="2286000"/>
          </a:xfrm>
          <a:prstGeom prst="chevron">
            <a:avLst>
              <a:gd name="adj" fmla="val 15000"/>
            </a:avLst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6337300" y="3048000"/>
            <a:ext cx="2286000" cy="2286000"/>
          </a:xfrm>
          <a:prstGeom prst="chevron">
            <a:avLst>
              <a:gd name="adj" fmla="val 15000"/>
            </a:avLst>
          </a:prstGeom>
          <a:solidFill>
            <a:srgbClr val="F4F1E8"/>
          </a:solidFill>
          <a:ln w="9525">
            <a:solidFill>
              <a:srgbClr val="D6D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8280400" y="3048000"/>
            <a:ext cx="2286000" cy="2286000"/>
          </a:xfrm>
          <a:prstGeom prst="chevron">
            <a:avLst>
              <a:gd name="adj" fmla="val 15000"/>
            </a:avLst>
          </a:prstGeom>
          <a:solidFill>
            <a:srgbClr val="F4F1E8"/>
          </a:solidFill>
          <a:ln w="9525">
            <a:solidFill>
              <a:srgbClr val="D6D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500" y="3302000"/>
            <a:ext cx="139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556000"/>
            <a:ext cx="1397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Stage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4127500"/>
            <a:ext cx="1397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for stage 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5600" y="3302000"/>
            <a:ext cx="139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5600" y="3556000"/>
            <a:ext cx="1397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Stage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5600" y="4127500"/>
            <a:ext cx="1397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for stage 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8700" y="3302000"/>
            <a:ext cx="139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8700" y="3556000"/>
            <a:ext cx="1397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Stage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8700" y="4127500"/>
            <a:ext cx="1397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0B1A33"/>
                </a:solidFill>
                <a:latin typeface="Noto Sans"/>
              </a:rPr>
              <a:t>Description for stage 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1800" y="3302000"/>
            <a:ext cx="139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1800" y="3556000"/>
            <a:ext cx="1397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Stage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1800" y="4127500"/>
            <a:ext cx="1397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for stage 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24900" y="3302000"/>
            <a:ext cx="139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24900" y="3556000"/>
            <a:ext cx="1397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Stage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4900" y="4127500"/>
            <a:ext cx="1397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for stage 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21 / 32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PYRAMID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LAYOUT · PYRAMID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Headline takeaway about the value hierarchy.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2266950" y="2286000"/>
            <a:ext cx="1695450" cy="1079500"/>
          </a:xfrm>
          <a:prstGeom prst="triangle">
            <a:avLst/>
          </a:prstGeom>
          <a:solidFill>
            <a:srgbClr val="162A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pezoid 7"/>
          <p:cNvSpPr/>
          <p:nvPr/>
        </p:nvSpPr>
        <p:spPr>
          <a:xfrm>
            <a:off x="1422400" y="3365500"/>
            <a:ext cx="3384550" cy="1079500"/>
          </a:xfrm>
          <a:prstGeom prst="trapezoid">
            <a:avLst>
              <a:gd name="adj" fmla="val 78430"/>
            </a:avLst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rapezoid 8"/>
          <p:cNvSpPr/>
          <p:nvPr/>
        </p:nvSpPr>
        <p:spPr>
          <a:xfrm>
            <a:off x="571500" y="4445000"/>
            <a:ext cx="5080000" cy="1079500"/>
          </a:xfrm>
          <a:prstGeom prst="trapezoid">
            <a:avLst>
              <a:gd name="adj" fmla="val 78430"/>
            </a:avLst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66950" y="3016250"/>
            <a:ext cx="169545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0ECE4"/>
                </a:solidFill>
                <a:latin typeface="Noto Sans"/>
              </a:rPr>
              <a:t>Apex 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2400" y="3841750"/>
            <a:ext cx="338455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0B1A33"/>
                </a:solidFill>
                <a:latin typeface="Noto Sans"/>
              </a:rPr>
              <a:t>Middle 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4921250"/>
            <a:ext cx="50165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0ECE4"/>
                </a:solidFill>
                <a:latin typeface="Noto Sans"/>
              </a:rPr>
              <a:t>Base 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77000" y="2159000"/>
            <a:ext cx="5080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0" y="2286000"/>
            <a:ext cx="4826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TIER 03 · APEX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2540000"/>
            <a:ext cx="4826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the top tier.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77000" y="3238500"/>
            <a:ext cx="5080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7000" y="3365500"/>
            <a:ext cx="4826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TIER 02 · MIDDLE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3619500"/>
            <a:ext cx="4826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the middle tier.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7000" y="4318000"/>
            <a:ext cx="5080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7000" y="4445000"/>
            <a:ext cx="4826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0" y="4699000"/>
            <a:ext cx="4826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the base tier.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7000" y="5524500"/>
            <a:ext cx="5080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24 / 32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FUNNEL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LAYOUT · FUNNEL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Headline takeaway about the funnel drop-off.</a:t>
            </a:r>
          </a:p>
        </p:txBody>
      </p:sp>
      <p:sp>
        <p:nvSpPr>
          <p:cNvPr id="7" name="Trapezoid 6"/>
          <p:cNvSpPr/>
          <p:nvPr/>
        </p:nvSpPr>
        <p:spPr>
          <a:xfrm rot="10800000">
            <a:off x="635000" y="2921000"/>
            <a:ext cx="2794000" cy="635000"/>
          </a:xfrm>
          <a:prstGeom prst="trapezoid">
            <a:avLst>
              <a:gd name="adj" fmla="val 40000"/>
            </a:avLst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rapezoid 7"/>
          <p:cNvSpPr/>
          <p:nvPr/>
        </p:nvSpPr>
        <p:spPr>
          <a:xfrm rot="10800000">
            <a:off x="889000" y="3556000"/>
            <a:ext cx="2286000" cy="635000"/>
          </a:xfrm>
          <a:prstGeom prst="trapezoid">
            <a:avLst>
              <a:gd name="adj" fmla="val 40000"/>
            </a:avLst>
          </a:prstGeom>
          <a:solidFill>
            <a:srgbClr val="2D47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rapezoid 8"/>
          <p:cNvSpPr/>
          <p:nvPr/>
        </p:nvSpPr>
        <p:spPr>
          <a:xfrm rot="10800000">
            <a:off x="1143000" y="4191000"/>
            <a:ext cx="1778000" cy="635000"/>
          </a:xfrm>
          <a:prstGeom prst="trapezoid">
            <a:avLst>
              <a:gd name="adj" fmla="val 40000"/>
            </a:avLst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rapezoid 9"/>
          <p:cNvSpPr/>
          <p:nvPr/>
        </p:nvSpPr>
        <p:spPr>
          <a:xfrm rot="10800000">
            <a:off x="1397000" y="4826000"/>
            <a:ext cx="1270000" cy="635000"/>
          </a:xfrm>
          <a:prstGeom prst="trapezoid">
            <a:avLst>
              <a:gd name="adj" fmla="val 40000"/>
            </a:avLst>
          </a:prstGeom>
          <a:solidFill>
            <a:srgbClr val="162A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83000" y="2794000"/>
            <a:ext cx="4318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0000" y="2921000"/>
            <a:ext cx="241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Stage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0" y="3175000"/>
            <a:ext cx="2413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Description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9210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175000"/>
            <a:ext cx="1016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100%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3000" y="3429000"/>
            <a:ext cx="4318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0000" y="3556000"/>
            <a:ext cx="241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Stage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0000" y="3810000"/>
            <a:ext cx="2413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Description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5560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810000"/>
            <a:ext cx="1016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84%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83000" y="4064000"/>
            <a:ext cx="4318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10000" y="4191000"/>
            <a:ext cx="241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Stage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10000" y="4445000"/>
            <a:ext cx="2413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Description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1910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445000"/>
            <a:ext cx="1016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62%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83000" y="4699000"/>
            <a:ext cx="4318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0000" y="4826000"/>
            <a:ext cx="241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Stage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0000" y="5080000"/>
            <a:ext cx="2413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Description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4826000"/>
            <a:ext cx="76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37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080000"/>
            <a:ext cx="1016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37%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83000" y="5334000"/>
            <a:ext cx="4318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55000" y="2794000"/>
            <a:ext cx="330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5000" y="2921000"/>
            <a:ext cx="3302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8A6F2E"/>
                </a:solidFill>
                <a:latin typeface="Noto Sans Medium"/>
              </a:rPr>
              <a:t>−22 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5000" y="3238500"/>
            <a:ext cx="330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0B1A33"/>
                </a:solidFill>
                <a:latin typeface="Noto Sans Mono"/>
              </a:rPr>
              <a:t>STAGE 1 →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5000" y="3479800"/>
            <a:ext cx="330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Annotation explaining the largest drop-off.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55000" y="4064000"/>
            <a:ext cx="330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5000" y="4191000"/>
            <a:ext cx="3302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8A6F2E"/>
                </a:solidFill>
                <a:latin typeface="Noto Sans Medium"/>
              </a:rPr>
              <a:t>−14 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5000" y="4508500"/>
            <a:ext cx="330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0B1A33"/>
                </a:solidFill>
                <a:latin typeface="Noto Sans Mono"/>
              </a:rPr>
              <a:t>STAGE 3 →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5000" y="4749800"/>
            <a:ext cx="330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Annotation explaining the secondary drop-off.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55000" y="5334000"/>
            <a:ext cx="330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30 / 32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VENN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LAYOUT · VENN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Headline takeaway about the intersection of three sets.</a:t>
            </a:r>
          </a:p>
        </p:txBody>
      </p:sp>
      <p:sp>
        <p:nvSpPr>
          <p:cNvPr id="7" name="Oval 6"/>
          <p:cNvSpPr/>
          <p:nvPr/>
        </p:nvSpPr>
        <p:spPr>
          <a:xfrm>
            <a:off x="762000" y="2286000"/>
            <a:ext cx="2794000" cy="2794000"/>
          </a:xfrm>
          <a:prstGeom prst="ellipse">
            <a:avLst/>
          </a:prstGeom>
          <a:solidFill>
            <a:srgbClr val="C9A24A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86000" y="2286000"/>
            <a:ext cx="2794000" cy="2794000"/>
          </a:xfrm>
          <a:prstGeom prst="ellipse">
            <a:avLst/>
          </a:prstGeom>
          <a:solidFill>
            <a:srgbClr val="2D4770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24000" y="3365500"/>
            <a:ext cx="2794000" cy="2794000"/>
          </a:xfrm>
          <a:prstGeom prst="ellipse">
            <a:avLst/>
          </a:prstGeom>
          <a:solidFill>
            <a:srgbClr val="3A5B8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000" y="2540000"/>
            <a:ext cx="76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SET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2743200"/>
            <a:ext cx="76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Description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7000" y="25400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SET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7000" y="27432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Description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0" y="5651500"/>
            <a:ext cx="1016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SET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000" y="5854700"/>
            <a:ext cx="1016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Description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9000" y="31750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0B1A33"/>
                </a:solidFill>
                <a:latin typeface="Noto Sans Mono"/>
              </a:rPr>
              <a:t>Overlap A∩B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7000" y="45720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0B1A33"/>
                </a:solidFill>
                <a:latin typeface="Noto Sans Mono"/>
              </a:rPr>
              <a:t>Overlap A∩C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1000" y="45720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0B1A33"/>
                </a:solidFill>
                <a:latin typeface="Noto Sans Mono"/>
              </a:rPr>
              <a:t>Overlap B∩C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59000" y="3937000"/>
            <a:ext cx="152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>
                <a:solidFill>
                  <a:srgbClr val="F0ECE4"/>
                </a:solidFill>
                <a:latin typeface="Noto Sans Mono"/>
              </a:rPr>
              <a:t>Center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9000" y="4127500"/>
            <a:ext cx="15240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0ECE4"/>
                </a:solidFill>
                <a:latin typeface="Noto Sans"/>
              </a:rPr>
              <a:t>A∩B∩C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77000" y="2794000"/>
            <a:ext cx="5080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7000" y="2921000"/>
            <a:ext cx="4826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01 · A ×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0" y="3175000"/>
            <a:ext cx="482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Overlap label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0" y="3556000"/>
            <a:ext cx="4826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the A × B intersection.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77000" y="4318000"/>
            <a:ext cx="5080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7000" y="4445000"/>
            <a:ext cx="4826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02 · A × B ×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000" y="4699000"/>
            <a:ext cx="482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Center label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000" y="5080000"/>
            <a:ext cx="4826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the center intersection.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7000" y="5842000"/>
            <a:ext cx="5080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31 / 32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V-MODEL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143000"/>
            <a:ext cx="1092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96">
                <a:solidFill>
                  <a:srgbClr val="2D3A52"/>
                </a:solidFill>
                <a:latin typeface="Noto Sans Mono"/>
              </a:rPr>
              <a:t>SDLC · 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108">
                <a:solidFill>
                  <a:srgbClr val="0B1A33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6" name="feinschliff-title-act-title"/>
          <p:cNvSpPr txBox="1"/>
          <p:nvPr/>
        </p:nvSpPr>
        <p:spPr>
          <a:xfrm>
            <a:off x="635000" y="1651000"/>
            <a:ext cx="10287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spc="-56">
                <a:solidFill>
                  <a:srgbClr val="0B1A33"/>
                </a:solidFill>
                <a:latin typeface="Noto Sans"/>
              </a:rPr>
              <a:t>Every design step on the left has a matching test on the right.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3175000"/>
            <a:ext cx="215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96">
                <a:solidFill>
                  <a:srgbClr val="2D3A52"/>
                </a:solidFill>
                <a:latin typeface="Noto Sans Mono"/>
              </a:rPr>
              <a:t>VERIFICATION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98000" y="3175000"/>
            <a:ext cx="215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96">
                <a:solidFill>
                  <a:srgbClr val="2D3A52"/>
                </a:solidFill>
                <a:latin typeface="Noto Sans Mono"/>
              </a:rPr>
              <a:t>VALIDATION PHASE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45000" y="3429000"/>
            <a:ext cx="1397000" cy="2286000"/>
          </a:xfrm>
          <a:prstGeom prst="line">
            <a:avLst/>
          </a:prstGeom>
          <a:ln w="9525">
            <a:solidFill>
              <a:srgbClr val="D6D1C2"/>
            </a:solidFill>
          </a:ln>
        </p:spPr>
      </p:cxnSp>
      <p:cxnSp>
        <p:nvCxnSpPr>
          <p:cNvPr id="10" name="Connector 9"/>
          <p:cNvCxnSpPr/>
          <p:nvPr/>
        </p:nvCxnSpPr>
        <p:spPr>
          <a:xfrm flipH="1">
            <a:off x="6350000" y="3429000"/>
            <a:ext cx="1397000" cy="2286000"/>
          </a:xfrm>
          <a:prstGeom prst="line">
            <a:avLst/>
          </a:prstGeom>
          <a:ln w="9525">
            <a:solidFill>
              <a:srgbClr val="D6D1C2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35000" y="35052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PHASE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3683000"/>
            <a:ext cx="330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0" y="3632200"/>
            <a:ext cx="254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96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95000" y="3505200"/>
            <a:ext cx="76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000" y="3683000"/>
            <a:ext cx="330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132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PHASE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191000"/>
            <a:ext cx="279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0" y="4140200"/>
            <a:ext cx="254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96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4013200"/>
            <a:ext cx="76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5000" y="4191000"/>
            <a:ext cx="2794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51000" y="45212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PHASE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1000" y="46990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0" y="4648200"/>
            <a:ext cx="254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96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9000" y="4521200"/>
            <a:ext cx="76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5000" y="4699000"/>
            <a:ext cx="2286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59000" y="50292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PHASE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59000" y="5207000"/>
            <a:ext cx="177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6000" y="5156200"/>
            <a:ext cx="254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96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1000" y="5029200"/>
            <a:ext cx="76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5000" y="5207000"/>
            <a:ext cx="177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26000" y="5715000"/>
            <a:ext cx="2540000" cy="508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6000" y="5778500"/>
            <a:ext cx="2540000" cy="11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0B1A33"/>
                </a:solidFill>
                <a:latin typeface="Noto Sans Mono"/>
              </a:rPr>
              <a:t>PIVOT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6000" y="5969000"/>
            <a:ext cx="254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96">
                <a:solidFill>
                  <a:srgbClr val="0B1A33"/>
                </a:solidFill>
                <a:latin typeface="Noto Sans Mono"/>
              </a:rPr>
              <a:t>CODING &amp; IMPLEMENTATION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32 / 33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2×2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LAYOUT · 2×2 MATRIX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Headline takeaway about prioritisation.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635000" y="4368800"/>
            <a:ext cx="9525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96">
                <a:solidFill>
                  <a:srgbClr val="2D3A52"/>
                </a:solidFill>
                <a:latin typeface="Noto Sans Mono"/>
              </a:rPr>
              <a:t>IMPACT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270000" y="2921000"/>
            <a:ext cx="3048000" cy="1524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7000" y="3111500"/>
            <a:ext cx="279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7000" y="3365500"/>
            <a:ext cx="2794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Top-right item.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7000" y="3937000"/>
            <a:ext cx="2794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0B1A33"/>
                </a:solidFill>
                <a:latin typeface="Noto Sans"/>
              </a:rPr>
              <a:t>High-impact, low-effort initiative.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8000" y="2921000"/>
            <a:ext cx="3048000" cy="1524000"/>
          </a:xfrm>
          <a:prstGeom prst="rect">
            <a:avLst/>
          </a:prstGeom>
          <a:solidFill>
            <a:srgbClr val="FAF8F3"/>
          </a:solidFill>
          <a:ln w="9525">
            <a:solidFill>
              <a:srgbClr val="D6D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5000" y="3111500"/>
            <a:ext cx="279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5000" y="3365500"/>
            <a:ext cx="2794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Top-left item.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5000" y="3937000"/>
            <a:ext cx="2794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High-impact, high-effort initiative.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70000" y="4445000"/>
            <a:ext cx="3048000" cy="1524000"/>
          </a:xfrm>
          <a:prstGeom prst="rect">
            <a:avLst/>
          </a:prstGeom>
          <a:solidFill>
            <a:srgbClr val="FAF8F3"/>
          </a:solidFill>
          <a:ln w="9525">
            <a:solidFill>
              <a:srgbClr val="D6D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7000" y="4635500"/>
            <a:ext cx="279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7000" y="4889500"/>
            <a:ext cx="2794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Bottom-right item.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7000" y="5461000"/>
            <a:ext cx="2794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Low-impact, low-effort initiative.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8000" y="4445000"/>
            <a:ext cx="3048000" cy="1524000"/>
          </a:xfrm>
          <a:prstGeom prst="rect">
            <a:avLst/>
          </a:prstGeom>
          <a:solidFill>
            <a:srgbClr val="FAF8F3"/>
          </a:solidFill>
          <a:ln w="9525">
            <a:solidFill>
              <a:srgbClr val="D6D1C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5000" y="4635500"/>
            <a:ext cx="2794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5000" y="4889500"/>
            <a:ext cx="2794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Bottom-left item.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5000" y="5461000"/>
            <a:ext cx="2794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Low-impact, high-effort initiative.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0000" y="6096000"/>
            <a:ext cx="6096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96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0" y="2984500"/>
            <a:ext cx="3683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Reading the grid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74000" y="3429000"/>
            <a:ext cx="508000" cy="127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74000" y="3556000"/>
            <a:ext cx="3683000" cy="15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Each quadrant holds one representative initiative. The accent cell marks the highest-priority quadrant.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19 / 32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RISK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96">
                <a:solidFill>
                  <a:srgbClr val="2D3A52"/>
                </a:solidFill>
                <a:latin typeface="Noto Sans Mono"/>
              </a:rPr>
              <a:t>LAYOUT · RISK-MATRIX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651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108">
                <a:solidFill>
                  <a:srgbClr val="C9A24A"/>
                </a:solidFill>
                <a:latin typeface="Noto Sans Mono"/>
              </a:rPr>
              <a:t>WHERE THE EXPOSURE SITS</a:t>
            </a:r>
          </a:p>
        </p:txBody>
      </p:sp>
      <p:sp>
        <p:nvSpPr>
          <p:cNvPr id="7" name="feinschliff-title-act-title"/>
          <p:cNvSpPr txBox="1"/>
          <p:nvPr/>
        </p:nvSpPr>
        <p:spPr>
          <a:xfrm>
            <a:off x="635000" y="1905000"/>
            <a:ext cx="109220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spc="-56">
                <a:solidFill>
                  <a:srgbClr val="0B1A33"/>
                </a:solidFill>
                <a:latin typeface="Noto Sans"/>
              </a:rPr>
              <a:t>Two high-severity risks dominate — both mitigated.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4191000"/>
            <a:ext cx="1905000" cy="1905000"/>
          </a:xfrm>
          <a:prstGeom prst="rect">
            <a:avLst/>
          </a:prstGeom>
          <a:solidFill>
            <a:srgbClr val="3F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40000" y="2921000"/>
            <a:ext cx="1270000" cy="1270000"/>
          </a:xfrm>
          <a:prstGeom prst="rect">
            <a:avLst/>
          </a:prstGeom>
          <a:solidFill>
            <a:srgbClr val="A844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000" y="2921000"/>
            <a:ext cx="1905000" cy="1270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40000" y="4191000"/>
            <a:ext cx="1270000" cy="1905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2921000"/>
            <a:ext cx="3175000" cy="127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6083300"/>
            <a:ext cx="3175000" cy="127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2921000"/>
            <a:ext cx="12700" cy="31750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97300" y="2921000"/>
            <a:ext cx="12700" cy="31750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70000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05000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40000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75000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556000"/>
            <a:ext cx="3175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191000"/>
            <a:ext cx="3175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826000"/>
            <a:ext cx="3175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5461000"/>
            <a:ext cx="3175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0" y="6159500"/>
            <a:ext cx="635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2D3A52"/>
                </a:solidFill>
                <a:latin typeface="Noto Sans Mono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0000" y="6159500"/>
            <a:ext cx="635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2D3A52"/>
                </a:solidFill>
                <a:latin typeface="Noto Sans Mono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5000" y="6159500"/>
            <a:ext cx="635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2D3A52"/>
                </a:solidFill>
                <a:latin typeface="Noto Sans Mono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0000" y="6159500"/>
            <a:ext cx="635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2D3A52"/>
                </a:solidFill>
                <a:latin typeface="Noto Sans Mono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75000" y="6159500"/>
            <a:ext cx="635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2D3A52"/>
                </a:solidFill>
                <a:latin typeface="Noto Sans Mono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4000" y="3175000"/>
            <a:ext cx="3175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112">
                <a:solidFill>
                  <a:srgbClr val="2D3A52"/>
                </a:solidFill>
                <a:latin typeface="Noto Sans Mono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000" y="3810000"/>
            <a:ext cx="3175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112">
                <a:solidFill>
                  <a:srgbClr val="2D3A52"/>
                </a:solidFill>
                <a:latin typeface="Noto Sans Mono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4000" y="4445000"/>
            <a:ext cx="3175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112">
                <a:solidFill>
                  <a:srgbClr val="2D3A52"/>
                </a:solidFill>
                <a:latin typeface="Noto Sans Mono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4000" y="5080000"/>
            <a:ext cx="3175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112">
                <a:solidFill>
                  <a:srgbClr val="2D3A52"/>
                </a:solidFill>
                <a:latin typeface="Noto Sans Mono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4000" y="5715000"/>
            <a:ext cx="3175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112">
                <a:solidFill>
                  <a:srgbClr val="2D3A52"/>
                </a:solidFill>
                <a:latin typeface="Noto Sans Mono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000" y="2603500"/>
            <a:ext cx="3175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96">
                <a:solidFill>
                  <a:srgbClr val="2D3A52"/>
                </a:solidFill>
                <a:latin typeface="Noto Sans Mono"/>
              </a:rPr>
              <a:t>IMPACT (Y) × PROBABILITY (X) — 1 LOW → 5 HIGH</a:t>
            </a:r>
          </a:p>
        </p:txBody>
      </p:sp>
      <p:sp>
        <p:nvSpPr>
          <p:cNvPr id="35" name="Oval 34"/>
          <p:cNvSpPr/>
          <p:nvPr/>
        </p:nvSpPr>
        <p:spPr>
          <a:xfrm>
            <a:off x="2032000" y="3683000"/>
            <a:ext cx="381000" cy="381000"/>
          </a:xfrm>
          <a:prstGeom prst="ellipse">
            <a:avLst/>
          </a:prstGeom>
          <a:solidFill>
            <a:srgbClr val="C9A24A"/>
          </a:solidFill>
          <a:ln w="6350">
            <a:solidFill>
              <a:srgbClr val="FAF8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32000" y="3683000"/>
            <a:ext cx="3810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spc="-19">
                <a:solidFill>
                  <a:srgbClr val="FAF8F3"/>
                </a:solidFill>
                <a:latin typeface="Noto Sans Medium"/>
              </a:rPr>
              <a:t>1</a:t>
            </a:r>
          </a:p>
        </p:txBody>
      </p:sp>
      <p:sp>
        <p:nvSpPr>
          <p:cNvPr id="37" name="Oval 36"/>
          <p:cNvSpPr/>
          <p:nvPr/>
        </p:nvSpPr>
        <p:spPr>
          <a:xfrm>
            <a:off x="1397000" y="3048000"/>
            <a:ext cx="381000" cy="381000"/>
          </a:xfrm>
          <a:prstGeom prst="ellipse">
            <a:avLst/>
          </a:prstGeom>
          <a:solidFill>
            <a:srgbClr val="A8442A"/>
          </a:solidFill>
          <a:ln w="6350">
            <a:solidFill>
              <a:srgbClr val="FAF8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7000" y="3048000"/>
            <a:ext cx="3810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spc="-19">
                <a:solidFill>
                  <a:srgbClr val="FAF8F3"/>
                </a:solidFill>
                <a:latin typeface="Noto Sans Medium"/>
              </a:rPr>
              <a:t>2</a:t>
            </a:r>
          </a:p>
        </p:txBody>
      </p:sp>
      <p:sp>
        <p:nvSpPr>
          <p:cNvPr id="39" name="Oval 38"/>
          <p:cNvSpPr/>
          <p:nvPr/>
        </p:nvSpPr>
        <p:spPr>
          <a:xfrm>
            <a:off x="2032000" y="4318000"/>
            <a:ext cx="381000" cy="381000"/>
          </a:xfrm>
          <a:prstGeom prst="ellipse">
            <a:avLst/>
          </a:prstGeom>
          <a:solidFill>
            <a:srgbClr val="C9A24A"/>
          </a:solidFill>
          <a:ln w="6350">
            <a:solidFill>
              <a:srgbClr val="FAF8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32000" y="4318000"/>
            <a:ext cx="3810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spc="-19">
                <a:solidFill>
                  <a:srgbClr val="FAF8F3"/>
                </a:solidFill>
                <a:latin typeface="Noto Sans Medium"/>
              </a:rPr>
              <a:t>3</a:t>
            </a:r>
          </a:p>
        </p:txBody>
      </p:sp>
      <p:sp>
        <p:nvSpPr>
          <p:cNvPr id="41" name="Oval 40"/>
          <p:cNvSpPr/>
          <p:nvPr/>
        </p:nvSpPr>
        <p:spPr>
          <a:xfrm>
            <a:off x="2667000" y="4953000"/>
            <a:ext cx="381000" cy="381000"/>
          </a:xfrm>
          <a:prstGeom prst="ellipse">
            <a:avLst/>
          </a:prstGeom>
          <a:solidFill>
            <a:srgbClr val="C9A24A"/>
          </a:solidFill>
          <a:ln w="6350">
            <a:solidFill>
              <a:srgbClr val="FAF8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67000" y="4953000"/>
            <a:ext cx="3810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spc="-19">
                <a:solidFill>
                  <a:srgbClr val="FAF8F3"/>
                </a:solidFill>
                <a:latin typeface="Noto Sans Medium"/>
              </a:rPr>
              <a:t>4</a:t>
            </a:r>
          </a:p>
        </p:txBody>
      </p:sp>
      <p:sp>
        <p:nvSpPr>
          <p:cNvPr id="43" name="Oval 42"/>
          <p:cNvSpPr/>
          <p:nvPr/>
        </p:nvSpPr>
        <p:spPr>
          <a:xfrm>
            <a:off x="1397000" y="4318000"/>
            <a:ext cx="381000" cy="381000"/>
          </a:xfrm>
          <a:prstGeom prst="ellipse">
            <a:avLst/>
          </a:prstGeom>
          <a:solidFill>
            <a:srgbClr val="3F8553"/>
          </a:solidFill>
          <a:ln w="6350">
            <a:solidFill>
              <a:srgbClr val="FAF8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97000" y="4318000"/>
            <a:ext cx="3810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spc="-19">
                <a:solidFill>
                  <a:srgbClr val="FAF8F3"/>
                </a:solidFill>
                <a:latin typeface="Noto Sans Medium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45000" y="2921000"/>
            <a:ext cx="7112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96">
                <a:solidFill>
                  <a:srgbClr val="2D3A52"/>
                </a:solidFill>
                <a:latin typeface="Noto Sans Mono"/>
              </a:rPr>
              <a:t>RISKS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45000" y="3111500"/>
            <a:ext cx="7112000" cy="127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45000" y="3238500"/>
            <a:ext cx="203200" cy="203200"/>
          </a:xfrm>
          <a:prstGeom prst="ellipse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45000" y="3238500"/>
            <a:ext cx="203200" cy="20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FAF8F3"/>
                </a:solidFill>
                <a:latin typeface="Noto Sans Mono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62500" y="3238500"/>
            <a:ext cx="6794500" cy="20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Vendor renegotiation fails.</a:t>
            </a:r>
          </a:p>
        </p:txBody>
      </p:sp>
      <p:sp>
        <p:nvSpPr>
          <p:cNvPr id="50" name="Oval 49"/>
          <p:cNvSpPr/>
          <p:nvPr/>
        </p:nvSpPr>
        <p:spPr>
          <a:xfrm>
            <a:off x="4445000" y="3556000"/>
            <a:ext cx="203200" cy="203200"/>
          </a:xfrm>
          <a:prstGeom prst="ellipse">
            <a:avLst/>
          </a:prstGeom>
          <a:solidFill>
            <a:srgbClr val="A844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45000" y="3556000"/>
            <a:ext cx="203200" cy="20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FAF8F3"/>
                </a:solidFill>
                <a:latin typeface="Noto Sans Mono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62500" y="3556000"/>
            <a:ext cx="6794500" cy="20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Top-five customer churn during sunset.</a:t>
            </a:r>
          </a:p>
        </p:txBody>
      </p:sp>
      <p:sp>
        <p:nvSpPr>
          <p:cNvPr id="53" name="Oval 52"/>
          <p:cNvSpPr/>
          <p:nvPr/>
        </p:nvSpPr>
        <p:spPr>
          <a:xfrm>
            <a:off x="4445000" y="3873500"/>
            <a:ext cx="203200" cy="203200"/>
          </a:xfrm>
          <a:prstGeom prst="ellipse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45000" y="3873500"/>
            <a:ext cx="203200" cy="20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FAF8F3"/>
                </a:solidFill>
                <a:latin typeface="Noto Sans Mono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62500" y="3873500"/>
            <a:ext cx="6794500" cy="20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Director-CS hire slips Q4.</a:t>
            </a:r>
          </a:p>
        </p:txBody>
      </p:sp>
      <p:sp>
        <p:nvSpPr>
          <p:cNvPr id="56" name="Oval 55"/>
          <p:cNvSpPr/>
          <p:nvPr/>
        </p:nvSpPr>
        <p:spPr>
          <a:xfrm>
            <a:off x="4445000" y="4191000"/>
            <a:ext cx="203200" cy="203200"/>
          </a:xfrm>
          <a:prstGeom prst="ellipse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45000" y="4191000"/>
            <a:ext cx="203200" cy="20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FAF8F3"/>
                </a:solidFill>
                <a:latin typeface="Noto Sans Mono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62500" y="4191000"/>
            <a:ext cx="6794500" cy="20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Analytics consolidation overruns.</a:t>
            </a:r>
          </a:p>
        </p:txBody>
      </p:sp>
      <p:sp>
        <p:nvSpPr>
          <p:cNvPr id="59" name="Oval 58"/>
          <p:cNvSpPr/>
          <p:nvPr/>
        </p:nvSpPr>
        <p:spPr>
          <a:xfrm>
            <a:off x="4445000" y="4508500"/>
            <a:ext cx="203200" cy="203200"/>
          </a:xfrm>
          <a:prstGeom prst="ellipse">
            <a:avLst/>
          </a:prstGeom>
          <a:solidFill>
            <a:srgbClr val="3F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45000" y="4508500"/>
            <a:ext cx="203200" cy="20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FAF8F3"/>
                </a:solidFill>
                <a:latin typeface="Noto Sans Mono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62500" y="4508500"/>
            <a:ext cx="6794500" cy="20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Board pushback on credit budget.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24 / 32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RISK REGISTER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96">
                <a:solidFill>
                  <a:srgbClr val="2D3A52"/>
                </a:solidFill>
                <a:latin typeface="Noto Sans Mono"/>
              </a:rPr>
              <a:t>LAYOUT · RISK-REGISTER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651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108">
                <a:solidFill>
                  <a:srgbClr val="C9A24A"/>
                </a:solidFill>
                <a:latin typeface="Noto Sans Mono"/>
              </a:rPr>
              <a:t>WHAT COULD DERAIL THE PLAN</a:t>
            </a:r>
          </a:p>
        </p:txBody>
      </p:sp>
      <p:sp>
        <p:nvSpPr>
          <p:cNvPr id="7" name="feinschliff-title-act-title"/>
          <p:cNvSpPr txBox="1"/>
          <p:nvPr/>
        </p:nvSpPr>
        <p:spPr>
          <a:xfrm>
            <a:off x="635000" y="1905000"/>
            <a:ext cx="10922000" cy="8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 spc="-56">
                <a:solidFill>
                  <a:srgbClr val="0B1A33"/>
                </a:solidFill>
                <a:latin typeface="Noto Sans"/>
              </a:rPr>
              <a:t>Six material risks, four mitigations active.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29210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" y="2984500"/>
            <a:ext cx="381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984500"/>
            <a:ext cx="342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9000" y="2984500"/>
            <a:ext cx="381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7000" y="2984500"/>
            <a:ext cx="381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984500"/>
            <a:ext cx="1016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SEVERITY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984500"/>
            <a:ext cx="381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MITIGATION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5000" y="2984500"/>
            <a:ext cx="76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175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302000"/>
            <a:ext cx="38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02000"/>
            <a:ext cx="342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Vendor renegotiation fails.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9000" y="3302000"/>
            <a:ext cx="38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7000" y="3302000"/>
            <a:ext cx="38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0" y="3238500"/>
            <a:ext cx="889000" cy="254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42000" y="3263900"/>
            <a:ext cx="762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302000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Parallel RFP with three alternates in flight.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95000" y="33020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CFO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3619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3746500"/>
            <a:ext cx="38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746500"/>
            <a:ext cx="342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Top-five customer churn during sunset.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9000" y="3746500"/>
            <a:ext cx="38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7000" y="3746500"/>
            <a:ext cx="38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3683000"/>
            <a:ext cx="889000" cy="254000"/>
          </a:xfrm>
          <a:prstGeom prst="rect">
            <a:avLst/>
          </a:prstGeom>
          <a:solidFill>
            <a:srgbClr val="A844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42000" y="3708400"/>
            <a:ext cx="762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746500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Named-CS coverage plus 12-month flagship credit.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95000" y="37465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CRO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000" y="4191000"/>
            <a:ext cx="38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191000"/>
            <a:ext cx="342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Director-CS hire slips Q4.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99000" y="4191000"/>
            <a:ext cx="38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07000" y="4191000"/>
            <a:ext cx="38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15000" y="4127500"/>
            <a:ext cx="889000" cy="254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42000" y="4152900"/>
            <a:ext cx="762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>medium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191000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Backup interim from internal promotion list.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95000" y="41910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People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000" y="450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000" y="4635500"/>
            <a:ext cx="38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" y="4635500"/>
            <a:ext cx="342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Analytics consolidation overruns.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99000" y="4635500"/>
            <a:ext cx="38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07000" y="4635500"/>
            <a:ext cx="38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15000" y="4572000"/>
            <a:ext cx="889000" cy="254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42000" y="4597400"/>
            <a:ext cx="762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>medium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635500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Phased migration with 30-day rollback window.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95000" y="46355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Data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000" y="495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000" y="5080000"/>
            <a:ext cx="38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3000" y="5080000"/>
            <a:ext cx="3429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Board pushes back on credit budget.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9000" y="5080000"/>
            <a:ext cx="38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07000" y="5080000"/>
            <a:ext cx="381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15000" y="5016500"/>
            <a:ext cx="889000" cy="254000"/>
          </a:xfrm>
          <a:prstGeom prst="rect">
            <a:avLst/>
          </a:prstGeom>
          <a:solidFill>
            <a:srgbClr val="3F85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42000" y="5041900"/>
            <a:ext cx="762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FAF8F3"/>
                </a:solidFill>
                <a:latin typeface="Noto Sans"/>
              </a:rPr>
              <a:t>low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5080000"/>
            <a:ext cx="3810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Pre-aligned with audit committee chair.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95000" y="5080000"/>
            <a:ext cx="76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CEO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25 / 32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LAYOUT ·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LAYOUT · TABLE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Headline takeaway about the table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7940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000" y="2921000"/>
            <a:ext cx="1905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7000" y="2921000"/>
            <a:ext cx="1778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COLUMN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921000"/>
            <a:ext cx="1778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COLUMN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2921000"/>
            <a:ext cx="1778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COLUMN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2921000"/>
            <a:ext cx="1778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COLUMN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2921000"/>
            <a:ext cx="127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COLUMN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3302000"/>
            <a:ext cx="1905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Row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7000" y="3302000"/>
            <a:ext cx="177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02000"/>
            <a:ext cx="177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3302000"/>
            <a:ext cx="177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0" y="3302000"/>
            <a:ext cx="177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3302000"/>
            <a:ext cx="1270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68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810000"/>
            <a:ext cx="1905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Row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67000" y="3810000"/>
            <a:ext cx="177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810000"/>
            <a:ext cx="177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7000" y="3810000"/>
            <a:ext cx="177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0" y="3810000"/>
            <a:ext cx="177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3810000"/>
            <a:ext cx="1270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191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000" y="4318000"/>
            <a:ext cx="1905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Row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67000" y="4318000"/>
            <a:ext cx="177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318000"/>
            <a:ext cx="177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7000" y="4318000"/>
            <a:ext cx="177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0" y="4318000"/>
            <a:ext cx="177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4318000"/>
            <a:ext cx="1270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4699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000" y="4826000"/>
            <a:ext cx="1905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Row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67000" y="4826000"/>
            <a:ext cx="177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826000"/>
            <a:ext cx="177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7000" y="4826000"/>
            <a:ext cx="177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2000" y="4826000"/>
            <a:ext cx="177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4826000"/>
            <a:ext cx="1270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207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000" y="5334000"/>
            <a:ext cx="1905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Row 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67000" y="5334000"/>
            <a:ext cx="177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5334000"/>
            <a:ext cx="177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7000" y="5334000"/>
            <a:ext cx="177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0" y="5334000"/>
            <a:ext cx="1778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5334000"/>
            <a:ext cx="1270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3A52"/>
                </a:solidFill>
                <a:latin typeface="Noto Sans"/>
              </a:rPr>
              <a:t>Cell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000" y="5715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23 / 32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UI KIT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LAYOUT · COMPONENTS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UI library preview.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" y="2794000"/>
            <a:ext cx="5207000" cy="3302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2984500"/>
            <a:ext cx="469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BUTTONS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89000" y="3238500"/>
            <a:ext cx="1524000" cy="381000"/>
          </a:xfrm>
          <a:prstGeom prst="rect">
            <a:avLst/>
          </a:prstGeom>
          <a:solidFill>
            <a:srgbClr val="C9A24A"/>
          </a:solidFill>
          <a:ln w="6350">
            <a:solidFill>
              <a:srgbClr val="C9A24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3352800"/>
            <a:ext cx="1270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B1A33"/>
                </a:solidFill>
                <a:latin typeface="Noto Sans Medium"/>
              </a:rPr>
              <a:t>Primary 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40000" y="3238500"/>
            <a:ext cx="1524000" cy="381000"/>
          </a:xfrm>
          <a:prstGeom prst="rect">
            <a:avLst/>
          </a:prstGeom>
          <a:solidFill>
            <a:srgbClr val="0B1A33"/>
          </a:solidFill>
          <a:ln w="6350">
            <a:solidFill>
              <a:srgbClr val="0B1A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67000" y="3352800"/>
            <a:ext cx="1270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0ECE4"/>
                </a:solidFill>
                <a:latin typeface="Noto Sans Medium"/>
              </a:rPr>
              <a:t>Default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91000" y="3238500"/>
            <a:ext cx="1524000" cy="381000"/>
          </a:xfrm>
          <a:prstGeom prst="rect">
            <a:avLst/>
          </a:prstGeom>
          <a:solidFill>
            <a:srgbClr val="FAF8F3"/>
          </a:solidFill>
          <a:ln w="6350">
            <a:solidFill>
              <a:srgbClr val="0B1A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8000" y="3352800"/>
            <a:ext cx="12700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" y="3873500"/>
            <a:ext cx="469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9000" y="4127500"/>
            <a:ext cx="1143000" cy="317500"/>
          </a:xfrm>
          <a:prstGeom prst="rect">
            <a:avLst/>
          </a:prstGeom>
          <a:solidFill>
            <a:srgbClr val="0B1A33"/>
          </a:solidFill>
          <a:ln w="9525">
            <a:solidFill>
              <a:srgbClr val="0B1A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6000" y="4216400"/>
            <a:ext cx="88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64">
                <a:solidFill>
                  <a:srgbClr val="F0ECE4"/>
                </a:solidFill>
                <a:latin typeface="Noto Sans Mono Medium"/>
              </a:rPr>
              <a:t>PRODUCTION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59000" y="4127500"/>
            <a:ext cx="1143000" cy="317500"/>
          </a:xfrm>
          <a:prstGeom prst="rect">
            <a:avLst/>
          </a:prstGeom>
          <a:solidFill>
            <a:srgbClr val="C9A24A"/>
          </a:solidFill>
          <a:ln w="9525">
            <a:solidFill>
              <a:srgbClr val="C9A24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216400"/>
            <a:ext cx="88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64">
                <a:solidFill>
                  <a:srgbClr val="0B1A33"/>
                </a:solidFill>
                <a:latin typeface="Noto Sans Mono Medium"/>
              </a:rPr>
              <a:t>FEATURED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4127500"/>
            <a:ext cx="889000" cy="317500"/>
          </a:xfrm>
          <a:prstGeom prst="rect">
            <a:avLst/>
          </a:prstGeom>
          <a:solidFill>
            <a:srgbClr val="8A6F2E"/>
          </a:solidFill>
          <a:ln w="9525">
            <a:solidFill>
              <a:srgbClr val="8A6F2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6000" y="4216400"/>
            <a:ext cx="635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64">
                <a:solidFill>
                  <a:srgbClr val="0B1A33"/>
                </a:solidFill>
                <a:latin typeface="Noto Sans Mono Medium"/>
              </a:rPr>
              <a:t>BETA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45000" y="4127500"/>
            <a:ext cx="1143000" cy="317500"/>
          </a:xfrm>
          <a:prstGeom prst="rect">
            <a:avLst/>
          </a:prstGeom>
          <a:solidFill>
            <a:srgbClr val="FAF8F3"/>
          </a:solidFill>
          <a:ln w="9525">
            <a:solidFill>
              <a:srgbClr val="0B1A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216400"/>
            <a:ext cx="88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64">
                <a:solidFill>
                  <a:srgbClr val="0B1A33"/>
                </a:solidFill>
                <a:latin typeface="Noto Sans Mono Medium"/>
              </a:rPr>
              <a:t>ARCHIVED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2794000"/>
            <a:ext cx="5207000" cy="3302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4000" y="2984500"/>
            <a:ext cx="469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RULES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04000" y="34290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4000" y="3556000"/>
            <a:ext cx="469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4000" y="406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4000" y="4191000"/>
            <a:ext cx="469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04000" y="4826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4000" y="4953000"/>
            <a:ext cx="4699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HAIRLINE · WIDTH × 1 · FOG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14 / 32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HOW REQUESTS FLOW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Three sinks behind one API: cache, DB, queue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230" y="2540000"/>
            <a:ext cx="6877538" cy="203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000" y="5080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So what: Reads serve from cache, writes commit to DB, side-effects fan out to the queue — three sinks, one API surface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5524500"/>
            <a:ext cx="1092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Internal load test, 2026-05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FEINSCHLIFF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V0.3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REQUEST LIFECYCLE ACROSS THE PLATFORM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31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Twelve hops from edge to durable storage.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163" y="2032000"/>
            <a:ext cx="9213673" cy="3937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000" y="6159500"/>
            <a:ext cx="1092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So what: P95 budget = 80 ms; 32 ms is the policy round-trip — cache decisions per request, refresh out-of-band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FEINSCHLIFF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V0.3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Q1 BY REGION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AMER pulled +18% YoY while LATAM softened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2286000"/>
            <a:ext cx="10922000" cy="304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000" y="55245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So what: AMER acceleration is the lever; protect it in Q2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5969000"/>
            <a:ext cx="10922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5A6478"/>
                </a:solidFill>
                <a:latin typeface="Noto Sans Mono"/>
              </a:rPr>
              <a:t>Finance OPS export, 2026-04-30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FEINSCHLIFF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V0.3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QUARTERLY REVENUE × REGION × SEGMENT</a:t>
            </a:r>
          </a:p>
        </p:txBody>
      </p:sp>
      <p:sp>
        <p:nvSpPr>
          <p:cNvPr id="6" name="feinschliff-title-title"/>
          <p:cNvSpPr txBox="1"/>
          <p:nvPr/>
        </p:nvSpPr>
        <p:spPr>
          <a:xfrm>
            <a:off x="635000" y="1651000"/>
            <a:ext cx="1092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AMER enterprise carried Q1; LATAM mid-market is the Q2 unlock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2159000"/>
            <a:ext cx="109220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000" y="6731000"/>
            <a:ext cx="10922000" cy="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So what: AMER over-attainment masked LATAM softness; build a LATAM mid-market plan or rebalance quota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FEINSCHLIFF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V0.3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00"/>
          </a:xfrm>
          <a:prstGeom prst="rect">
            <a:avLst/>
          </a:prstGeom>
          <a:solidFill>
            <a:srgbClr val="F4F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11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0" y="4572000"/>
            <a:ext cx="762000" cy="254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einschliff-title-display-xl"/>
          <p:cNvSpPr txBox="1"/>
          <p:nvPr/>
        </p:nvSpPr>
        <p:spPr>
          <a:xfrm>
            <a:off x="0" y="4699000"/>
            <a:ext cx="12192000" cy="139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0" b="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096000"/>
            <a:ext cx="1219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WATER-CYCLE SHOWCASE · V1 · 2026-05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MAY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30 / 30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143000" cy="152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35D6D"/>
                </a:solidFill>
                <a:latin typeface="Noto Sans Mono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22225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einschliff-title-display-xl"/>
          <p:cNvSpPr txBox="1"/>
          <p:nvPr/>
        </p:nvSpPr>
        <p:spPr>
          <a:xfrm>
            <a:off x="0" y="2540000"/>
            <a:ext cx="12192000" cy="165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5000"/>
              </a:lnSpc>
            </a:pPr>
            <a:r>
              <a:rPr sz="10000" b="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572000"/>
            <a:ext cx="1219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FEINSCHLIFF · V0.1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oto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